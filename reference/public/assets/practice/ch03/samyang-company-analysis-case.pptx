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  <p:sldId id="265" r:id="rId14"/>
    <p:sldId id="269" r:id="rId15"/>
    <p:sldId id="270" r:id="rId16"/>
    <p:sldId id="271" r:id="rId17"/>
    <p:sldId id="283" r:id="rId18"/>
    <p:sldId id="272" r:id="rId19"/>
    <p:sldId id="284" r:id="rId20"/>
    <p:sldId id="285" r:id="rId21"/>
    <p:sldId id="286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프롬프트" id="{8F7936C6-BF8B-442C-A4DA-3666979D372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6"/>
            <p14:sldId id="265"/>
            <p14:sldId id="269"/>
            <p14:sldId id="270"/>
            <p14:sldId id="271"/>
          </p14:sldIdLst>
        </p14:section>
        <p14:section name="Gems" id="{6444379E-5E47-4041-9F42-A6DFA455F540}">
          <p14:sldIdLst>
            <p14:sldId id="283"/>
            <p14:sldId id="272"/>
            <p14:sldId id="284"/>
            <p14:sldId id="285"/>
            <p14:sldId id="286"/>
          </p14:sldIdLst>
        </p14:section>
        <p14:section name="Google AI Studio &amp; Padlet" id="{2AFA0D87-E025-436D-8EB5-70C0ECDAA24A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DDCB3-6EA7-9798-D75E-5F493E284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A94FAE-E155-4B22-BCFF-C106FBD0F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82C51-1D16-650A-363A-1624BD53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B710D-A765-8F88-641A-73C889B8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802280-15B9-A9A1-B919-6A1B482D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2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F32806-C4F5-AE17-1923-A3F4A29D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24E40-E226-484F-8834-B42F9E0E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3DA9D-66F4-5442-9078-D87CD60E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A99547-F112-0799-F938-667910D0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DD878D-A196-BB62-B24A-3D238523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73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337D3-A349-3960-71D3-FEF731C8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95BAA3-EF00-6E24-5532-CFF2485C7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BD19D-19B2-82EC-05AD-664A0FB7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1D5DE7-9127-65BB-13DC-76BF2609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34A68-1F52-35FA-FF11-BBDFA469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BC6F2-F0C1-5E3B-49E5-4E63E84D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80207A-00EE-8058-E083-B1E27060A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BF97E7-004D-05A5-3A6A-FAFCA30E4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380831-0B62-AFDA-4BAD-F838714D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C423F8-EB2C-3F84-A2A8-B92913E1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D428B4-CD23-AF30-CF32-FF07DD08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2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612DE-EDCC-8150-66EE-CDA879A0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BBA29F-AFB8-03BC-8567-DB866B0EA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D00485-8B70-7205-2ABB-BD7920B31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85E920-3A6C-2B06-BA79-24442DA98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76F7C1-CDC8-5C14-B534-387709313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8FA656-C6B5-6DCE-6694-3F3BE0B1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A73687-62D0-8493-328D-B6DB2226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8F47FC-D310-017F-7E51-A341ED29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227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75F00-A85E-E476-5EC1-17B3D366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190C01-E355-6AFD-AA3F-6A91CF05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90039B-083F-09F9-43F6-4E1E3012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72DADA-34EE-4F81-1B33-5BD5F45A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3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BF9BFD-8FDC-5CDF-99AD-CD22344B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D33310-D834-E100-C53E-E1B49987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05A6A-5F15-468D-E7DB-85CE4FB1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06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A9CAD-64A5-076D-3386-B816A6BE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BBF61F-0E60-A99F-83FC-7AAB9B87B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4566FB-B6E0-579B-F3AE-F4DD72EBF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1ADDF8-4EAA-13A1-1007-69DC5769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3B5CE2-5F4F-BFA0-B514-82FF1905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231B0A-A7BA-5754-5BEF-C7DC4467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9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D1250-5FB7-AF43-4E63-C0893569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9363ED-DBA3-2F73-7C3E-0B50E3E14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1FE457-5D58-829E-0971-19E114652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9A0548-572D-3ECD-1D8E-A1005D41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2F696-3706-1458-30BB-52B05925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34800A-C86C-62EF-84C2-A82AD6AF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22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C3689-0B29-1BD0-0F85-A9475DB7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708525-A7BA-1EE1-B72E-AA2E9E029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1110D-0478-9DDB-1ED6-202E38F6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4A3244-93A0-7F1D-6945-7B2263BB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A8D7E-BBB1-F0CA-973B-7212F592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2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216BB0-80C0-003B-C624-A5C696449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36BE2F-01C0-9C96-DCD0-ACF183984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ABDE3B-A366-C9B3-D344-2C82092C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38150-E147-8A48-DADD-2DCC8AD9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0E8825-8EB9-4B66-1A71-E58DE02D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92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9BB82E-2E6A-C56F-E5CB-729A64719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B5C77-4CAE-B431-BCFB-5DE3D6D4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8557EB-D5A1-1FC6-F0B5-F6C581725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4A3F5-EA15-43BB-94D0-DC06E5D5171F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F57DB-7B57-1F14-FCA1-A9C65664A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8EB8AE-CC77-16BB-3EC7-C66F0CF20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D5065-B6C0-45F7-9EFE-2F4B633AC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21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aistudio.google.com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50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A2EE5E-F157-B9F4-CE37-FB22F5A1A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471074"/>
            <a:ext cx="10097909" cy="591585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6F1B227-39FB-4A43-06B6-845269363AE7}"/>
              </a:ext>
            </a:extLst>
          </p:cNvPr>
          <p:cNvSpPr/>
          <p:nvPr/>
        </p:nvSpPr>
        <p:spPr>
          <a:xfrm>
            <a:off x="1293091" y="2604655"/>
            <a:ext cx="9851863" cy="600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7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55AD40-C6CC-7AF9-FE68-FCFD8F77610C}"/>
              </a:ext>
            </a:extLst>
          </p:cNvPr>
          <p:cNvSpPr txBox="1"/>
          <p:nvPr/>
        </p:nvSpPr>
        <p:spPr>
          <a:xfrm>
            <a:off x="480291" y="336096"/>
            <a:ext cx="636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제미나이에</a:t>
            </a:r>
            <a:r>
              <a:rPr lang="ko-KR" altLang="en-US" dirty="0"/>
              <a:t> 특화된 프롬프트 작성법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34518-CF04-13F3-2629-08214EC95261}"/>
              </a:ext>
            </a:extLst>
          </p:cNvPr>
          <p:cNvSpPr txBox="1"/>
          <p:nvPr/>
        </p:nvSpPr>
        <p:spPr>
          <a:xfrm>
            <a:off x="480291" y="2045853"/>
            <a:ext cx="63638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안녕 제미나이</a:t>
            </a:r>
            <a:r>
              <a:rPr lang="en-US" altLang="ko-KR" dirty="0"/>
              <a:t>, </a:t>
            </a:r>
            <a:r>
              <a:rPr lang="ko-KR" altLang="en-US" dirty="0"/>
              <a:t>아래는 내가 쓴 일기야</a:t>
            </a:r>
            <a:r>
              <a:rPr lang="en-US" altLang="ko-KR" dirty="0"/>
              <a:t>. </a:t>
            </a:r>
            <a:r>
              <a:rPr lang="ko-KR" altLang="en-US" dirty="0"/>
              <a:t>이걸 바탕으로 네이버 블로그 포스팅을 작성해줘</a:t>
            </a:r>
            <a:r>
              <a:rPr lang="en-US" altLang="ko-KR" dirty="0"/>
              <a:t>. </a:t>
            </a:r>
            <a:r>
              <a:rPr lang="ko-KR" altLang="en-US" dirty="0"/>
              <a:t>제목은 재미있게 지어주고 본문은 </a:t>
            </a:r>
            <a:r>
              <a:rPr lang="en-US" altLang="ko-KR" dirty="0"/>
              <a:t>3</a:t>
            </a:r>
            <a:r>
              <a:rPr lang="ko-KR" altLang="en-US" dirty="0"/>
              <a:t>문단으로 해줘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일기 내용</a:t>
            </a:r>
            <a:r>
              <a:rPr lang="en-US" altLang="ko-KR" dirty="0"/>
              <a:t>...]</a:t>
            </a:r>
          </a:p>
          <a:p>
            <a:endParaRPr lang="en-US" altLang="ko-KR" dirty="0"/>
          </a:p>
          <a:p>
            <a:r>
              <a:rPr lang="en-US" altLang="ko-KR" dirty="0"/>
              <a:t>~~~~~~~~~</a:t>
            </a:r>
          </a:p>
          <a:p>
            <a:r>
              <a:rPr lang="en-US" altLang="ko-KR" dirty="0"/>
              <a:t>"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78F8A-F7F4-8234-59C5-11B24BE50BF8}"/>
              </a:ext>
            </a:extLst>
          </p:cNvPr>
          <p:cNvSpPr txBox="1"/>
          <p:nvPr/>
        </p:nvSpPr>
        <p:spPr>
          <a:xfrm>
            <a:off x="480291" y="1240981"/>
            <a:ext cx="924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결과 형식이 필요한 작업에서는 일반 텍스트 보다는 </a:t>
            </a:r>
            <a:r>
              <a:rPr lang="en-US" altLang="ko-KR" dirty="0"/>
              <a:t>XML</a:t>
            </a:r>
            <a:r>
              <a:rPr lang="ko-KR" altLang="en-US" dirty="0"/>
              <a:t> 형식으로 프롬프트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8F841-F35C-C121-C205-1B1658920E38}"/>
              </a:ext>
            </a:extLst>
          </p:cNvPr>
          <p:cNvSpPr txBox="1"/>
          <p:nvPr/>
        </p:nvSpPr>
        <p:spPr>
          <a:xfrm>
            <a:off x="549564" y="1676521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비추천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40598-BF0A-1309-6D77-FC983D93432E}"/>
              </a:ext>
            </a:extLst>
          </p:cNvPr>
          <p:cNvSpPr txBox="1"/>
          <p:nvPr/>
        </p:nvSpPr>
        <p:spPr>
          <a:xfrm>
            <a:off x="4100945" y="3992141"/>
            <a:ext cx="63638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&lt;role&gt;</a:t>
            </a:r>
            <a:r>
              <a:rPr lang="ko-KR" altLang="en-US" dirty="0"/>
              <a:t>전문 블로거</a:t>
            </a:r>
            <a:r>
              <a:rPr lang="en-US" altLang="ko-KR" dirty="0"/>
              <a:t>&lt;/role&gt;</a:t>
            </a:r>
          </a:p>
          <a:p>
            <a:r>
              <a:rPr lang="en-US" altLang="ko-KR" dirty="0"/>
              <a:t>&lt;context&gt;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여기에 일기 내용을 넣으세요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&lt;/context&gt;</a:t>
            </a:r>
          </a:p>
          <a:p>
            <a:r>
              <a:rPr lang="en-US" altLang="ko-KR" dirty="0"/>
              <a:t>&lt;instruction&gt;</a:t>
            </a:r>
          </a:p>
          <a:p>
            <a:r>
              <a:rPr lang="en-US" altLang="ko-KR" dirty="0"/>
              <a:t>1. &lt;context&gt;</a:t>
            </a:r>
            <a:r>
              <a:rPr lang="ko-KR" altLang="en-US" dirty="0"/>
              <a:t>의 내용을 바탕으로 블로그 포스팅 작성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클릭을 부르는 흥미로운 제목 생성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본문은 </a:t>
            </a:r>
            <a:r>
              <a:rPr lang="en-US" altLang="ko-KR" dirty="0"/>
              <a:t>3</a:t>
            </a:r>
            <a:r>
              <a:rPr lang="ko-KR" altLang="en-US" dirty="0"/>
              <a:t>문단 구성</a:t>
            </a:r>
          </a:p>
          <a:p>
            <a:r>
              <a:rPr lang="en-US" altLang="ko-KR" dirty="0"/>
              <a:t>&lt;/instruction&gt;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19301-94DE-E3A1-C426-17F29ACC3BBC}"/>
              </a:ext>
            </a:extLst>
          </p:cNvPr>
          <p:cNvSpPr txBox="1"/>
          <p:nvPr/>
        </p:nvSpPr>
        <p:spPr>
          <a:xfrm>
            <a:off x="4100945" y="3556601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75000"/>
                  </a:schemeClr>
                </a:solidFill>
              </a:rPr>
              <a:t>추천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22A3C-1AAD-89C4-8A7D-502F7C75A618}"/>
              </a:ext>
            </a:extLst>
          </p:cNvPr>
          <p:cNvSpPr txBox="1"/>
          <p:nvPr/>
        </p:nvSpPr>
        <p:spPr>
          <a:xfrm>
            <a:off x="480290" y="764076"/>
            <a:ext cx="9772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단순히 질문에 대한 답을 얻고 싶은 경우에는 일반 텍스트를 사용</a:t>
            </a:r>
            <a:r>
              <a:rPr lang="en-US" altLang="ko-KR" dirty="0"/>
              <a:t>(</a:t>
            </a:r>
            <a:r>
              <a:rPr lang="ko-KR" altLang="en-US" dirty="0"/>
              <a:t>예 </a:t>
            </a:r>
            <a:r>
              <a:rPr lang="en-US" altLang="ko-KR" dirty="0"/>
              <a:t>: </a:t>
            </a:r>
            <a:r>
              <a:rPr lang="ko-KR" altLang="en-US" dirty="0"/>
              <a:t>오늘 날씨는 어때</a:t>
            </a:r>
            <a:r>
              <a:rPr lang="en-US" altLang="ko-KR" dirty="0"/>
              <a:t>?)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429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BB881A-E83B-D15A-602D-2FE5DF9E437C}"/>
              </a:ext>
            </a:extLst>
          </p:cNvPr>
          <p:cNvSpPr txBox="1"/>
          <p:nvPr/>
        </p:nvSpPr>
        <p:spPr>
          <a:xfrm>
            <a:off x="332509" y="1363529"/>
            <a:ext cx="6096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&lt;</a:t>
            </a:r>
            <a:r>
              <a:rPr lang="ko-KR" altLang="en-US" sz="1400" dirty="0" err="1"/>
              <a:t>role</a:t>
            </a:r>
            <a:r>
              <a:rPr lang="ko-KR" altLang="en-US" sz="1400" dirty="0"/>
              <a:t>&gt;금융 시장 분석가 및 증권 전문 에디터&lt;/</a:t>
            </a:r>
            <a:r>
              <a:rPr lang="ko-KR" altLang="en-US" sz="1400" dirty="0" err="1"/>
              <a:t>role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&lt;</a:t>
            </a:r>
            <a:r>
              <a:rPr lang="ko-KR" altLang="en-US" sz="1400" dirty="0" err="1"/>
              <a:t>context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아래 제공되는 증권사 리포트의 핵심 내용을 분석하여 투자자가 한눈에 파악할 수 있도록 요약하라.</a:t>
            </a:r>
          </a:p>
          <a:p>
            <a:r>
              <a:rPr lang="ko-KR" altLang="en-US" sz="1400" dirty="0"/>
              <a:t>&lt;/</a:t>
            </a:r>
            <a:r>
              <a:rPr lang="ko-KR" altLang="en-US" sz="1400" dirty="0" err="1"/>
              <a:t>context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&lt;</a:t>
            </a:r>
            <a:r>
              <a:rPr lang="ko-KR" altLang="en-US" sz="1400" dirty="0" err="1"/>
              <a:t>report_content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첨부파일을 참고하세요!</a:t>
            </a:r>
          </a:p>
          <a:p>
            <a:r>
              <a:rPr lang="ko-KR" altLang="en-US" sz="1400" dirty="0"/>
              <a:t>&lt;/</a:t>
            </a:r>
            <a:r>
              <a:rPr lang="ko-KR" altLang="en-US" sz="1400" dirty="0" err="1"/>
              <a:t>report_content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&lt;</a:t>
            </a:r>
            <a:r>
              <a:rPr lang="ko-KR" altLang="en-US" sz="1400" dirty="0" err="1"/>
              <a:t>instruction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1. &lt;</a:t>
            </a:r>
            <a:r>
              <a:rPr lang="ko-KR" altLang="en-US" sz="1400" dirty="0" err="1"/>
              <a:t>report_content</a:t>
            </a:r>
            <a:r>
              <a:rPr lang="ko-KR" altLang="en-US" sz="1400" dirty="0"/>
              <a:t>&gt; 내에서 '추천 기업', '현재 주가', '목표 </a:t>
            </a:r>
            <a:r>
              <a:rPr lang="ko-KR" altLang="en-US" sz="1400" dirty="0" err="1"/>
              <a:t>주가'를</a:t>
            </a:r>
            <a:r>
              <a:rPr lang="ko-KR" altLang="en-US" sz="1400" dirty="0"/>
              <a:t> 반드시 찾아내라.</a:t>
            </a:r>
          </a:p>
          <a:p>
            <a:r>
              <a:rPr lang="ko-KR" altLang="en-US" sz="1400" dirty="0"/>
              <a:t>2. 분석된 내용을 바탕으로 딱 3줄의 </a:t>
            </a:r>
            <a:r>
              <a:rPr lang="ko-KR" altLang="en-US" sz="1400" dirty="0" err="1"/>
              <a:t>불렛포인트로</a:t>
            </a:r>
            <a:r>
              <a:rPr lang="ko-KR" altLang="en-US" sz="1400" dirty="0"/>
              <a:t> 요약하라.</a:t>
            </a:r>
          </a:p>
          <a:p>
            <a:r>
              <a:rPr lang="ko-KR" altLang="en-US" sz="1400" dirty="0"/>
              <a:t>3. 숫자는 정확하게 표기하고, 투자 의견(매수/보유 등)이 있다면 포함하라.</a:t>
            </a:r>
          </a:p>
          <a:p>
            <a:r>
              <a:rPr lang="ko-KR" altLang="en-US" sz="1400" dirty="0"/>
              <a:t>&lt;/</a:t>
            </a:r>
            <a:r>
              <a:rPr lang="ko-KR" altLang="en-US" sz="1400" dirty="0" err="1"/>
              <a:t>instruction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&lt;</a:t>
            </a:r>
            <a:r>
              <a:rPr lang="ko-KR" altLang="en-US" sz="1400" dirty="0" err="1"/>
              <a:t>format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- 기업명: [기업이름] (현재가: [금액] / 목표가: [금액])</a:t>
            </a:r>
          </a:p>
          <a:p>
            <a:r>
              <a:rPr lang="ko-KR" altLang="en-US" sz="1400" dirty="0"/>
              <a:t>- 핵심 요약 1: [리포트의 가장 중요한 투자 포인트]</a:t>
            </a:r>
          </a:p>
          <a:p>
            <a:r>
              <a:rPr lang="ko-KR" altLang="en-US" sz="1400" dirty="0"/>
              <a:t>- 핵심 요약 2: [향후 전망 또는 리스크 요인]</a:t>
            </a:r>
          </a:p>
          <a:p>
            <a:r>
              <a:rPr lang="ko-KR" altLang="en-US" sz="1400" dirty="0"/>
              <a:t>&lt;/</a:t>
            </a:r>
            <a:r>
              <a:rPr lang="ko-KR" altLang="en-US" sz="1400" dirty="0" err="1"/>
              <a:t>format</a:t>
            </a:r>
            <a:r>
              <a:rPr lang="ko-KR" altLang="en-US" sz="1400" dirty="0"/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766C3-3775-C086-E995-3855D3D86E52}"/>
              </a:ext>
            </a:extLst>
          </p:cNvPr>
          <p:cNvSpPr txBox="1"/>
          <p:nvPr/>
        </p:nvSpPr>
        <p:spPr>
          <a:xfrm>
            <a:off x="332509" y="340714"/>
            <a:ext cx="636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제미나이에</a:t>
            </a:r>
            <a:r>
              <a:rPr lang="ko-KR" altLang="en-US" dirty="0"/>
              <a:t> 특화된 프롬프트 작성법 </a:t>
            </a:r>
            <a:r>
              <a:rPr lang="en-US" altLang="ko-KR" dirty="0"/>
              <a:t>– XML </a:t>
            </a:r>
            <a:r>
              <a:rPr lang="ko-KR" altLang="en-US" dirty="0"/>
              <a:t>사용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59200F8-DCD6-6DD1-AF58-6C3ED2DE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102" y="4041844"/>
            <a:ext cx="1398331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제공해주신 한화투자증권의 음식료 산업 리포트를 분석하여,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최선호주로 꼽힌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삼양식품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을 중심으로 핵심 내용을 요약해 드립니다.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기업명: 삼양식품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(현재가: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1,082,000원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/ 목표가: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1,900,000원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핵심 요약 1: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불닭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브랜드가 글로벌 메가 브랜드로 안착하며 해외 매출 비중이 82.5%까지 확대될 전망이며,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'위조품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유통'이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역설적으로 강력한 현지 수요를 증명하는 브랜드 자산으로 평가되어 **투자의견 매수(BUY)**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유지합니다.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핵심 요약 2: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2026년은 내수 식품의 가격 인하 압박과 고환율 등 어려운 업황이 예상되나,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기업들의 SKU 축소 및 구조조정을 통한 비용 효율화가 본격화되면서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중장기적인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수익성 개선 사이클의 출발점이 될 것으로 분석됩니다.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다른 분석 기업인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오리온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(현재가: 131,100원 / 목표가: 180,000원)이나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CJ제일제당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등의 상세 정보가 추가로 필요하시면 말씀해 주세요.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9FFA2A9-8D6F-E5A2-5A4F-7CC4191D6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02" y="419713"/>
            <a:ext cx="685895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6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071F-9591-51A4-8532-B848715F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3BA694-59BC-DDB2-9C50-B1D8B1B66E1E}"/>
              </a:ext>
            </a:extLst>
          </p:cNvPr>
          <p:cNvSpPr txBox="1"/>
          <p:nvPr/>
        </p:nvSpPr>
        <p:spPr>
          <a:xfrm>
            <a:off x="332509" y="1363529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당신은 금융 시장 분석가 및 증권 전문 에디터 입니다</a:t>
            </a:r>
            <a:r>
              <a:rPr lang="en-US" altLang="ko-KR" sz="1400" dirty="0"/>
              <a:t>. </a:t>
            </a:r>
          </a:p>
          <a:p>
            <a:r>
              <a:rPr lang="ko-KR" altLang="en-US" sz="1400" dirty="0"/>
              <a:t>첨부파일을 참고해서 리포트의 핵심 내용을 투자자가 한눈에 파악할 수 있도록 요약해주세요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다음 </a:t>
            </a:r>
            <a:r>
              <a:rPr lang="en-US" altLang="ko-KR" sz="1400" dirty="0"/>
              <a:t>"</a:t>
            </a:r>
            <a:r>
              <a:rPr lang="ko-KR" altLang="en-US" sz="1400" dirty="0"/>
              <a:t>조건</a:t>
            </a:r>
            <a:r>
              <a:rPr lang="en-US" altLang="ko-KR" sz="1400" dirty="0"/>
              <a:t>"</a:t>
            </a:r>
            <a:r>
              <a:rPr lang="ko-KR" altLang="en-US" sz="1400" dirty="0"/>
              <a:t>을 만족하도록 요약해주세요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/>
              <a:t>"</a:t>
            </a:r>
            <a:r>
              <a:rPr lang="ko-KR" altLang="en-US" sz="1400" dirty="0"/>
              <a:t>조건</a:t>
            </a:r>
            <a:r>
              <a:rPr lang="en-US" altLang="ko-KR" sz="1400" dirty="0"/>
              <a:t>"</a:t>
            </a:r>
          </a:p>
          <a:p>
            <a:r>
              <a:rPr lang="en-US" altLang="ko-KR" sz="1400" dirty="0"/>
              <a:t>1.  '</a:t>
            </a:r>
            <a:r>
              <a:rPr lang="ko-KR" altLang="en-US" sz="1400" dirty="0"/>
              <a:t>추천 기업</a:t>
            </a:r>
            <a:r>
              <a:rPr lang="en-US" altLang="ko-KR" sz="1400" dirty="0"/>
              <a:t>', '</a:t>
            </a:r>
            <a:r>
              <a:rPr lang="ko-KR" altLang="en-US" sz="1400" dirty="0"/>
              <a:t>현재 주가</a:t>
            </a:r>
            <a:r>
              <a:rPr lang="en-US" altLang="ko-KR" sz="1400" dirty="0"/>
              <a:t>', '</a:t>
            </a:r>
            <a:r>
              <a:rPr lang="ko-KR" altLang="en-US" sz="1400" dirty="0"/>
              <a:t>목표 주가</a:t>
            </a:r>
            <a:r>
              <a:rPr lang="en-US" altLang="ko-KR" sz="1400" dirty="0"/>
              <a:t>'</a:t>
            </a:r>
            <a:r>
              <a:rPr lang="ko-KR" altLang="en-US" sz="1400" dirty="0"/>
              <a:t>가 반드시 </a:t>
            </a:r>
            <a:r>
              <a:rPr lang="ko-KR" altLang="en-US" sz="1400" dirty="0" err="1"/>
              <a:t>들어가야할</a:t>
            </a:r>
            <a:r>
              <a:rPr lang="ko-KR" altLang="en-US" sz="1400" dirty="0"/>
              <a:t> 것</a:t>
            </a:r>
          </a:p>
          <a:p>
            <a:r>
              <a:rPr lang="en-US" altLang="ko-KR" sz="1400" dirty="0"/>
              <a:t>2. 3</a:t>
            </a:r>
            <a:r>
              <a:rPr lang="ko-KR" altLang="en-US" sz="1400" dirty="0"/>
              <a:t>줄로 </a:t>
            </a:r>
            <a:r>
              <a:rPr lang="ko-KR" altLang="en-US" sz="1400" dirty="0" err="1"/>
              <a:t>요약해야할</a:t>
            </a:r>
            <a:r>
              <a:rPr lang="ko-KR" altLang="en-US" sz="1400" dirty="0"/>
              <a:t> 것</a:t>
            </a:r>
          </a:p>
          <a:p>
            <a:r>
              <a:rPr lang="en-US" altLang="ko-KR" sz="1400" dirty="0"/>
              <a:t>3. </a:t>
            </a:r>
            <a:r>
              <a:rPr lang="ko-KR" altLang="en-US" sz="1400" dirty="0"/>
              <a:t>숫자는 정확하게 표기하고</a:t>
            </a:r>
            <a:r>
              <a:rPr lang="en-US" altLang="ko-KR" sz="1400" dirty="0"/>
              <a:t>, </a:t>
            </a:r>
            <a:r>
              <a:rPr lang="ko-KR" altLang="en-US" sz="1400" dirty="0"/>
              <a:t>투자 의견</a:t>
            </a:r>
            <a:r>
              <a:rPr lang="en-US" altLang="ko-KR" sz="1400" dirty="0"/>
              <a:t>(</a:t>
            </a:r>
            <a:r>
              <a:rPr lang="ko-KR" altLang="en-US" sz="1400" dirty="0"/>
              <a:t>매수</a:t>
            </a:r>
            <a:r>
              <a:rPr lang="en-US" altLang="ko-KR" sz="1400" dirty="0"/>
              <a:t>/</a:t>
            </a:r>
            <a:r>
              <a:rPr lang="ko-KR" altLang="en-US" sz="1400" dirty="0"/>
              <a:t>보유 등</a:t>
            </a:r>
            <a:r>
              <a:rPr lang="en-US" altLang="ko-KR" sz="1400" dirty="0"/>
              <a:t>)</a:t>
            </a:r>
            <a:r>
              <a:rPr lang="ko-KR" altLang="en-US" sz="1400" dirty="0"/>
              <a:t>이 있다면 포함하라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4. </a:t>
            </a:r>
            <a:r>
              <a:rPr lang="ko-KR" altLang="en-US" sz="1400" dirty="0"/>
              <a:t>형식은 아래와 </a:t>
            </a:r>
            <a:r>
              <a:rPr lang="ko-KR" altLang="en-US" sz="1400" dirty="0" err="1"/>
              <a:t>같아야할</a:t>
            </a:r>
            <a:r>
              <a:rPr lang="ko-KR" altLang="en-US" sz="1400" dirty="0"/>
              <a:t> 것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기업명</a:t>
            </a:r>
            <a:r>
              <a:rPr lang="en-US" altLang="ko-KR" sz="1400" dirty="0"/>
              <a:t>: [</a:t>
            </a:r>
            <a:r>
              <a:rPr lang="ko-KR" altLang="en-US" sz="1400" dirty="0"/>
              <a:t>기업이름</a:t>
            </a:r>
            <a:r>
              <a:rPr lang="en-US" altLang="ko-KR" sz="1400" dirty="0"/>
              <a:t>] (</a:t>
            </a:r>
            <a:r>
              <a:rPr lang="ko-KR" altLang="en-US" sz="1400" dirty="0"/>
              <a:t>현재가</a:t>
            </a:r>
            <a:r>
              <a:rPr lang="en-US" altLang="ko-KR" sz="1400" dirty="0"/>
              <a:t>: [</a:t>
            </a:r>
            <a:r>
              <a:rPr lang="ko-KR" altLang="en-US" sz="1400" dirty="0"/>
              <a:t>금액</a:t>
            </a:r>
            <a:r>
              <a:rPr lang="en-US" altLang="ko-KR" sz="1400" dirty="0"/>
              <a:t>] / </a:t>
            </a:r>
            <a:r>
              <a:rPr lang="ko-KR" altLang="en-US" sz="1400" dirty="0"/>
              <a:t>목표가</a:t>
            </a:r>
            <a:r>
              <a:rPr lang="en-US" altLang="ko-KR" sz="1400" dirty="0"/>
              <a:t>: [</a:t>
            </a:r>
            <a:r>
              <a:rPr lang="ko-KR" altLang="en-US" sz="1400" dirty="0"/>
              <a:t>금액</a:t>
            </a:r>
            <a:r>
              <a:rPr lang="en-US" altLang="ko-KR" sz="1400" dirty="0"/>
              <a:t>])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핵심 요약 </a:t>
            </a:r>
            <a:r>
              <a:rPr lang="en-US" altLang="ko-KR" sz="1400" dirty="0"/>
              <a:t>1: [</a:t>
            </a:r>
            <a:r>
              <a:rPr lang="ko-KR" altLang="en-US" sz="1400" dirty="0"/>
              <a:t>리포트의 가장 중요한 투자 포인트</a:t>
            </a:r>
            <a:r>
              <a:rPr lang="en-US" altLang="ko-KR" sz="1400" dirty="0"/>
              <a:t>]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핵심 요약 </a:t>
            </a:r>
            <a:r>
              <a:rPr lang="en-US" altLang="ko-KR" sz="1400" dirty="0"/>
              <a:t>2: [</a:t>
            </a:r>
            <a:r>
              <a:rPr lang="ko-KR" altLang="en-US" sz="1400" dirty="0"/>
              <a:t>향후 전망 또는 리스크 요인</a:t>
            </a:r>
            <a:r>
              <a:rPr lang="en-US" altLang="ko-KR" sz="14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2F1C1-976D-D7A2-2CC1-AFE415A6056D}"/>
              </a:ext>
            </a:extLst>
          </p:cNvPr>
          <p:cNvSpPr txBox="1"/>
          <p:nvPr/>
        </p:nvSpPr>
        <p:spPr>
          <a:xfrm>
            <a:off x="332509" y="340714"/>
            <a:ext cx="636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제미나이에</a:t>
            </a:r>
            <a:r>
              <a:rPr lang="ko-KR" altLang="en-US" dirty="0"/>
              <a:t> 특화된 프롬프트 작성법 </a:t>
            </a:r>
            <a:r>
              <a:rPr lang="en-US" altLang="ko-KR" dirty="0"/>
              <a:t>– </a:t>
            </a:r>
            <a:r>
              <a:rPr lang="ko-KR" altLang="en-US" dirty="0"/>
              <a:t>일반 텍스트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7B1A78-84E7-AE42-A17F-45B6FE47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057" y="525380"/>
            <a:ext cx="6906589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F95BE9-D05B-E760-4655-25AC21083C39}"/>
              </a:ext>
            </a:extLst>
          </p:cNvPr>
          <p:cNvSpPr txBox="1"/>
          <p:nvPr/>
        </p:nvSpPr>
        <p:spPr>
          <a:xfrm>
            <a:off x="293077" y="184154"/>
            <a:ext cx="99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Deep</a:t>
            </a:r>
            <a:r>
              <a:rPr lang="ko-KR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Research</a:t>
            </a:r>
            <a:r>
              <a:rPr lang="ko-KR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를 활용한 보고서 생성 및 </a:t>
            </a:r>
            <a:r>
              <a:rPr lang="ko-KR" alt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피피티</a:t>
            </a:r>
            <a:r>
              <a:rPr lang="ko-KR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슬라이드 만들기</a:t>
            </a:r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!</a:t>
            </a:r>
            <a:endParaRPr lang="ko-KR" alt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96244-E9E9-8E00-E26D-D98D3F86C625}"/>
              </a:ext>
            </a:extLst>
          </p:cNvPr>
          <p:cNvSpPr txBox="1"/>
          <p:nvPr/>
        </p:nvSpPr>
        <p:spPr>
          <a:xfrm>
            <a:off x="293077" y="1211741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&lt;</a:t>
            </a:r>
            <a:r>
              <a:rPr lang="ko-KR" altLang="en-US" dirty="0" err="1"/>
              <a:t>role</a:t>
            </a:r>
            <a:r>
              <a:rPr lang="ko-KR" altLang="en-US" dirty="0"/>
              <a:t>&gt;기업 전문 분석가&lt;/</a:t>
            </a:r>
            <a:r>
              <a:rPr lang="ko-KR" altLang="en-US" dirty="0" err="1"/>
              <a:t>role</a:t>
            </a:r>
            <a:r>
              <a:rPr lang="ko-KR" altLang="en-US" dirty="0"/>
              <a:t>&gt;</a:t>
            </a:r>
          </a:p>
          <a:p>
            <a:endParaRPr lang="ko-KR" altLang="en-US" dirty="0"/>
          </a:p>
          <a:p>
            <a:r>
              <a:rPr lang="ko-KR" altLang="en-US" dirty="0"/>
              <a:t>&lt;</a:t>
            </a:r>
            <a:r>
              <a:rPr lang="ko-KR" altLang="en-US" dirty="0" err="1"/>
              <a:t>context</a:t>
            </a:r>
            <a:r>
              <a:rPr lang="ko-KR" altLang="en-US" dirty="0"/>
              <a:t>&gt;</a:t>
            </a:r>
          </a:p>
          <a:p>
            <a:r>
              <a:rPr lang="ko-KR" altLang="en-US" dirty="0" err="1"/>
              <a:t>삼양</a:t>
            </a:r>
            <a:r>
              <a:rPr lang="ko-KR" altLang="en-US" dirty="0"/>
              <a:t> 식품에 대한 기업 분석 보고서를 만들어주세요.</a:t>
            </a:r>
          </a:p>
          <a:p>
            <a:r>
              <a:rPr lang="ko-KR" altLang="en-US" dirty="0"/>
              <a:t>&lt;/</a:t>
            </a:r>
            <a:r>
              <a:rPr lang="ko-KR" altLang="en-US" dirty="0" err="1"/>
              <a:t>context</a:t>
            </a:r>
            <a:r>
              <a:rPr lang="ko-KR" altLang="en-US" dirty="0"/>
              <a:t>&gt;</a:t>
            </a:r>
          </a:p>
          <a:p>
            <a:endParaRPr lang="ko-KR" altLang="en-US" dirty="0"/>
          </a:p>
          <a:p>
            <a:r>
              <a:rPr lang="ko-KR" altLang="en-US" dirty="0"/>
              <a:t>&lt;</a:t>
            </a:r>
            <a:r>
              <a:rPr lang="ko-KR" altLang="en-US" dirty="0" err="1"/>
              <a:t>instruction</a:t>
            </a:r>
            <a:r>
              <a:rPr lang="ko-KR" altLang="en-US" dirty="0"/>
              <a:t>&gt;</a:t>
            </a:r>
          </a:p>
          <a:p>
            <a:r>
              <a:rPr lang="ko-KR" altLang="en-US" dirty="0"/>
              <a:t>1. 2026년 3월 19일 기준으로 최신 자료를 반영해주세요.</a:t>
            </a:r>
          </a:p>
          <a:p>
            <a:r>
              <a:rPr lang="ko-KR" altLang="en-US" dirty="0"/>
              <a:t>2. A4 용지 한 장 정도의 분량으로 요약해주세요.</a:t>
            </a:r>
          </a:p>
          <a:p>
            <a:r>
              <a:rPr lang="ko-KR" altLang="en-US" dirty="0"/>
              <a:t>3. '주력 </a:t>
            </a:r>
            <a:r>
              <a:rPr lang="ko-KR" altLang="en-US" dirty="0" err="1"/>
              <a:t>사업'과</a:t>
            </a:r>
            <a:r>
              <a:rPr lang="ko-KR" altLang="en-US" dirty="0"/>
              <a:t> '최근 3년간 매출', '향후 </a:t>
            </a:r>
            <a:r>
              <a:rPr lang="ko-KR" altLang="en-US" dirty="0" err="1"/>
              <a:t>전망'을</a:t>
            </a:r>
            <a:r>
              <a:rPr lang="ko-KR" altLang="en-US" dirty="0"/>
              <a:t> 포함해주세요.</a:t>
            </a:r>
          </a:p>
          <a:p>
            <a:r>
              <a:rPr lang="ko-KR" altLang="en-US" dirty="0"/>
              <a:t>&lt;/</a:t>
            </a:r>
            <a:r>
              <a:rPr lang="ko-KR" altLang="en-US" dirty="0" err="1"/>
              <a:t>instruction</a:t>
            </a:r>
            <a:r>
              <a:rPr lang="ko-KR" altLang="en-US" dirty="0"/>
              <a:t>&gt;</a:t>
            </a:r>
          </a:p>
          <a:p>
            <a:endParaRPr lang="ko-KR" altLang="en-US" dirty="0"/>
          </a:p>
          <a:p>
            <a:r>
              <a:rPr lang="ko-KR" altLang="en-US" dirty="0"/>
              <a:t>&lt;</a:t>
            </a:r>
            <a:r>
              <a:rPr lang="ko-KR" altLang="en-US" dirty="0" err="1"/>
              <a:t>format</a:t>
            </a:r>
            <a:r>
              <a:rPr lang="ko-KR" altLang="en-US" dirty="0"/>
              <a:t>&gt;</a:t>
            </a:r>
          </a:p>
          <a:p>
            <a:r>
              <a:rPr lang="ko-KR" altLang="en-US" dirty="0"/>
              <a:t>- 기업명: [기업이름] (현재가: [금액] / 목표가: [금액])</a:t>
            </a:r>
          </a:p>
          <a:p>
            <a:r>
              <a:rPr lang="ko-KR" altLang="en-US" dirty="0"/>
              <a:t>- 주력 사업: [삼양식품 매출에서 가장 큰 비중을 차지하고 있는 사업 아이템]</a:t>
            </a:r>
          </a:p>
          <a:p>
            <a:r>
              <a:rPr lang="ko-KR" altLang="en-US" dirty="0"/>
              <a:t>- 매출 변화 : [최근 3년간 매출 변화]</a:t>
            </a:r>
          </a:p>
          <a:p>
            <a:r>
              <a:rPr lang="ko-KR" altLang="en-US" dirty="0"/>
              <a:t>- 향후 전망 : [긍정, 부정, 보류 등 핵심 단어로 설명]</a:t>
            </a:r>
          </a:p>
          <a:p>
            <a:r>
              <a:rPr lang="ko-KR" altLang="en-US" dirty="0"/>
              <a:t>&lt;/</a:t>
            </a:r>
            <a:r>
              <a:rPr lang="ko-KR" altLang="en-US" dirty="0" err="1"/>
              <a:t>format</a:t>
            </a:r>
            <a:r>
              <a:rPr lang="ko-KR" altLang="en-US" dirty="0"/>
              <a:t>&gt;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95200E-8A31-5B8D-AFBF-FC9A88C8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390" y="1870720"/>
            <a:ext cx="4680495" cy="4314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69D642-002B-7214-7289-D045063EC971}"/>
              </a:ext>
            </a:extLst>
          </p:cNvPr>
          <p:cNvSpPr txBox="1"/>
          <p:nvPr/>
        </p:nvSpPr>
        <p:spPr>
          <a:xfrm>
            <a:off x="398583" y="842409"/>
            <a:ext cx="101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Prompt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91A07-CB1A-A6CD-8930-D65A8CA41DDD}"/>
              </a:ext>
            </a:extLst>
          </p:cNvPr>
          <p:cNvSpPr txBox="1"/>
          <p:nvPr/>
        </p:nvSpPr>
        <p:spPr>
          <a:xfrm>
            <a:off x="7010400" y="553486"/>
            <a:ext cx="4783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제출을 누르면 바로 대답하지 않고 연구 계획을 보여줌</a:t>
            </a:r>
            <a:r>
              <a:rPr lang="en-US" altLang="ko-KR" dirty="0"/>
              <a:t>. </a:t>
            </a:r>
            <a:r>
              <a:rPr lang="ko-KR" altLang="en-US" dirty="0"/>
              <a:t>수정할 부분이 있다면 계획 수정 버튼을 누른 후 수정하고 없다면 연구시작 버튼 클릭</a:t>
            </a:r>
          </a:p>
        </p:txBody>
      </p:sp>
    </p:spTree>
    <p:extLst>
      <p:ext uri="{BB962C8B-B14F-4D97-AF65-F5344CB8AC3E}">
        <p14:creationId xmlns:p14="http://schemas.microsoft.com/office/powerpoint/2010/main" val="262001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3E94CAD-01CC-4B76-99FD-7B7FC4CD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4" y="1183565"/>
            <a:ext cx="10128738" cy="55219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575BB7-337D-6760-98A9-C7B2DDBDB3F8}"/>
              </a:ext>
            </a:extLst>
          </p:cNvPr>
          <p:cNvSpPr txBox="1"/>
          <p:nvPr/>
        </p:nvSpPr>
        <p:spPr>
          <a:xfrm>
            <a:off x="527538" y="342470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연구시작을 누르면 오른쪽에 생각하는 과정을 보여줌</a:t>
            </a:r>
            <a:r>
              <a:rPr lang="en-US" altLang="ko-KR" dirty="0"/>
              <a:t>(</a:t>
            </a:r>
            <a:r>
              <a:rPr lang="ko-KR" altLang="en-US" dirty="0"/>
              <a:t>어떤 웹사이트를 참고 했는지도 포함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14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FB08-9F24-B97B-C79B-15F59C8CA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A7CA7FB-FA94-2424-2F1A-7897D70F5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9" y="879441"/>
            <a:ext cx="11207262" cy="58730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3D3333-8DEE-4042-3649-335E68A375D0}"/>
              </a:ext>
            </a:extLst>
          </p:cNvPr>
          <p:cNvSpPr txBox="1"/>
          <p:nvPr/>
        </p:nvSpPr>
        <p:spPr>
          <a:xfrm>
            <a:off x="515815" y="510109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파워 포인트로 </a:t>
            </a:r>
            <a:r>
              <a:rPr lang="ko-KR" altLang="en-US" dirty="0" err="1"/>
              <a:t>만드려면</a:t>
            </a:r>
            <a:r>
              <a:rPr lang="ko-KR" altLang="en-US" dirty="0"/>
              <a:t> 우측 상단 </a:t>
            </a:r>
            <a:r>
              <a:rPr lang="en-US" altLang="ko-KR" dirty="0"/>
              <a:t>“</a:t>
            </a:r>
            <a:r>
              <a:rPr lang="ko-KR" altLang="en-US" dirty="0"/>
              <a:t>공유 및 내보내기</a:t>
            </a:r>
            <a:r>
              <a:rPr lang="en-US" altLang="ko-KR" dirty="0"/>
              <a:t>-&gt;Docs “</a:t>
            </a:r>
            <a:r>
              <a:rPr lang="ko-KR" altLang="en-US" dirty="0"/>
              <a:t>클릭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4E8A4-9AC9-C441-FB79-065F3746DC76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9F38A0-61F0-707C-292E-C9AA10F9EEA5}"/>
              </a:ext>
            </a:extLst>
          </p:cNvPr>
          <p:cNvSpPr/>
          <p:nvPr/>
        </p:nvSpPr>
        <p:spPr>
          <a:xfrm>
            <a:off x="9762978" y="879441"/>
            <a:ext cx="1097280" cy="5132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552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7C9CF8-02FB-D172-4521-D903320EA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53" y="1099882"/>
            <a:ext cx="10316308" cy="5292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5E3D7E-812B-9E86-3856-633D5A962FB7}"/>
              </a:ext>
            </a:extLst>
          </p:cNvPr>
          <p:cNvSpPr txBox="1"/>
          <p:nvPr/>
        </p:nvSpPr>
        <p:spPr>
          <a:xfrm>
            <a:off x="539261" y="63554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새로운 창이 뜨면서 아래와 같이 문서 파일을 보여줌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297AC-0E3E-5584-8352-34AE4CF51B34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</p:spTree>
    <p:extLst>
      <p:ext uri="{BB962C8B-B14F-4D97-AF65-F5344CB8AC3E}">
        <p14:creationId xmlns:p14="http://schemas.microsoft.com/office/powerpoint/2010/main" val="417130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184CE-DABE-81D6-459E-C787167A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C6C113-24CE-1C2A-4D15-18777FAF1DBB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0F9CA-E792-204D-ED04-AFDB0E6A1149}"/>
              </a:ext>
            </a:extLst>
          </p:cNvPr>
          <p:cNvSpPr txBox="1"/>
          <p:nvPr/>
        </p:nvSpPr>
        <p:spPr>
          <a:xfrm>
            <a:off x="539261" y="635547"/>
            <a:ext cx="10808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다시 새채팅을 열고 </a:t>
            </a:r>
            <a:r>
              <a:rPr lang="en-US" altLang="ko-KR" dirty="0"/>
              <a:t>+ </a:t>
            </a:r>
            <a:r>
              <a:rPr lang="ko-KR" altLang="en-US" dirty="0"/>
              <a:t>버튼을 열어서 파일을 업로드</a:t>
            </a:r>
            <a:r>
              <a:rPr lang="en-US" altLang="ko-KR" dirty="0"/>
              <a:t>(</a:t>
            </a:r>
            <a:r>
              <a:rPr lang="ko-KR" altLang="en-US" dirty="0"/>
              <a:t>앞에서 생성한 문서는 구글 드라이브에 저장되어 있으므로 </a:t>
            </a:r>
            <a:r>
              <a:rPr lang="en-US" altLang="ko-KR" dirty="0"/>
              <a:t>“Drive</a:t>
            </a:r>
            <a:r>
              <a:rPr lang="ko-KR" altLang="en-US" dirty="0"/>
              <a:t>에서 파일 추가</a:t>
            </a:r>
            <a:r>
              <a:rPr lang="en-US" altLang="ko-KR" dirty="0"/>
              <a:t>＂</a:t>
            </a:r>
            <a:r>
              <a:rPr lang="ko-KR" altLang="en-US" dirty="0"/>
              <a:t>를 누르면 됨</a:t>
            </a:r>
            <a:r>
              <a:rPr lang="en-US" altLang="ko-KR" dirty="0"/>
              <a:t>(</a:t>
            </a:r>
            <a:r>
              <a:rPr lang="ko-KR" altLang="en-US" dirty="0"/>
              <a:t>첫 </a:t>
            </a:r>
            <a:r>
              <a:rPr lang="ko-KR" altLang="en-US" dirty="0" err="1"/>
              <a:t>실행시</a:t>
            </a:r>
            <a:r>
              <a:rPr lang="ko-KR" altLang="en-US" dirty="0"/>
              <a:t> </a:t>
            </a:r>
            <a:r>
              <a:rPr lang="en-US" altLang="ko-KR" dirty="0"/>
              <a:t>Google Workspace</a:t>
            </a:r>
            <a:r>
              <a:rPr lang="ko-KR" altLang="en-US" dirty="0"/>
              <a:t>와 연결여부를 묻는 메시지가 뜨는데 연결 누르면 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2869BA-E2D6-627B-98EF-484361A4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1" y="1573040"/>
            <a:ext cx="6773925" cy="464941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60306CC-6B42-E41D-FF6F-FFB1E4327ED1}"/>
              </a:ext>
            </a:extLst>
          </p:cNvPr>
          <p:cNvSpPr/>
          <p:nvPr/>
        </p:nvSpPr>
        <p:spPr>
          <a:xfrm>
            <a:off x="1477108" y="3429001"/>
            <a:ext cx="515815" cy="463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D7A57E-BCB3-4146-C4A5-EAED3DEDD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846" y="1573040"/>
            <a:ext cx="4324954" cy="46012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1818290-2139-6294-08EF-8E2D0CBB8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rcRect l="26689" t="21864" r="20997" b="68199"/>
          <a:stretch>
            <a:fillRect/>
          </a:stretch>
        </p:blipFill>
        <p:spPr>
          <a:xfrm>
            <a:off x="8757138" y="2579076"/>
            <a:ext cx="2262554" cy="45720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18B7656-5529-6513-4151-481D8008729C}"/>
              </a:ext>
            </a:extLst>
          </p:cNvPr>
          <p:cNvSpPr/>
          <p:nvPr/>
        </p:nvSpPr>
        <p:spPr>
          <a:xfrm>
            <a:off x="11230709" y="5527431"/>
            <a:ext cx="515815" cy="463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159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18A4-8F5C-9FA0-19D0-55B4877D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C0F713-4A80-5BC4-2908-86326F1E4158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CC7255-2741-25CE-CF11-DD500E17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42" y="1268044"/>
            <a:ext cx="4706007" cy="3524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F6CED0-9440-1FB9-4348-9586296FB508}"/>
              </a:ext>
            </a:extLst>
          </p:cNvPr>
          <p:cNvSpPr txBox="1"/>
          <p:nvPr/>
        </p:nvSpPr>
        <p:spPr>
          <a:xfrm>
            <a:off x="539261" y="63554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원하는 보고서 파일 클릭 후 좌측 상단의 삽입 클릭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27EAAD-896A-2AD7-2A3C-978C9A4DAEDD}"/>
              </a:ext>
            </a:extLst>
          </p:cNvPr>
          <p:cNvSpPr/>
          <p:nvPr/>
        </p:nvSpPr>
        <p:spPr>
          <a:xfrm>
            <a:off x="566042" y="2883877"/>
            <a:ext cx="1989589" cy="2039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D93AE4B-0664-B74B-5EBA-B07AD91EF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20730"/>
            <a:ext cx="3124636" cy="237205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3A2F48-5790-02F5-EAB3-B561AF907F54}"/>
              </a:ext>
            </a:extLst>
          </p:cNvPr>
          <p:cNvSpPr/>
          <p:nvPr/>
        </p:nvSpPr>
        <p:spPr>
          <a:xfrm>
            <a:off x="8299939" y="4290647"/>
            <a:ext cx="890108" cy="672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56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44FE-E88D-8DCE-C4B1-DC4B884B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0DF7E1-15B4-7DCB-2368-37206034241D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A4B5E9-96C5-6088-5913-BCEE3B3C5AB1}"/>
              </a:ext>
            </a:extLst>
          </p:cNvPr>
          <p:cNvSpPr txBox="1"/>
          <p:nvPr/>
        </p:nvSpPr>
        <p:spPr>
          <a:xfrm>
            <a:off x="539261" y="63554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도구 </a:t>
            </a:r>
            <a:r>
              <a:rPr lang="en-US" altLang="ko-KR" dirty="0"/>
              <a:t>-&gt; Canvas </a:t>
            </a:r>
            <a:r>
              <a:rPr lang="ko-KR" altLang="en-US" dirty="0"/>
              <a:t>클릭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2FF0B6F-8BF1-361F-31EC-82953940A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56" y="1130317"/>
            <a:ext cx="7154273" cy="551574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59F7C23-32F4-BBD1-99F6-D8A5C1C5092E}"/>
              </a:ext>
            </a:extLst>
          </p:cNvPr>
          <p:cNvSpPr/>
          <p:nvPr/>
        </p:nvSpPr>
        <p:spPr>
          <a:xfrm>
            <a:off x="3063054" y="4595445"/>
            <a:ext cx="1028299" cy="515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265FE8-04FC-F269-B40E-10AFB7D51714}"/>
              </a:ext>
            </a:extLst>
          </p:cNvPr>
          <p:cNvSpPr/>
          <p:nvPr/>
        </p:nvSpPr>
        <p:spPr>
          <a:xfrm>
            <a:off x="2781700" y="3459420"/>
            <a:ext cx="1028299" cy="515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60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6DD4E8-5991-D91B-FD6C-678D88EE0056}"/>
              </a:ext>
            </a:extLst>
          </p:cNvPr>
          <p:cNvSpPr txBox="1"/>
          <p:nvPr/>
        </p:nvSpPr>
        <p:spPr>
          <a:xfrm>
            <a:off x="539261" y="124505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&lt;</a:t>
            </a:r>
            <a:r>
              <a:rPr lang="ko-KR" altLang="en-US" sz="1200" dirty="0" err="1"/>
              <a:t>role</a:t>
            </a:r>
            <a:r>
              <a:rPr lang="ko-KR" altLang="en-US" sz="1200" dirty="0"/>
              <a:t>&gt;투자 전략 연구원&lt;/</a:t>
            </a:r>
            <a:r>
              <a:rPr lang="ko-KR" altLang="en-US" sz="1200" dirty="0" err="1"/>
              <a:t>role</a:t>
            </a:r>
            <a:r>
              <a:rPr lang="ko-KR" altLang="en-US" sz="1200" dirty="0"/>
              <a:t>&gt;</a:t>
            </a:r>
          </a:p>
          <a:p>
            <a:endParaRPr lang="ko-KR" altLang="en-US" sz="1200" dirty="0"/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context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첨부한 문서를 바탕으로 경영진 보고용 프레젠테이션을 작성해주세요.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context</a:t>
            </a:r>
            <a:r>
              <a:rPr lang="ko-KR" altLang="en-US" sz="1200" dirty="0"/>
              <a:t>&gt;</a:t>
            </a:r>
          </a:p>
          <a:p>
            <a:endParaRPr lang="ko-KR" altLang="en-US" sz="1200" dirty="0"/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report_content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첨부파일을 참고하세요!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report_content</a:t>
            </a:r>
            <a:r>
              <a:rPr lang="ko-KR" altLang="en-US" sz="1200" dirty="0"/>
              <a:t>&gt;</a:t>
            </a:r>
          </a:p>
          <a:p>
            <a:endParaRPr lang="ko-KR" altLang="en-US" sz="1200" dirty="0"/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instruction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1. 프레젠테이션 10장으로 작성</a:t>
            </a:r>
          </a:p>
          <a:p>
            <a:r>
              <a:rPr lang="ko-KR" altLang="en-US" sz="1200" dirty="0"/>
              <a:t>2. 톤은 전문적이고 분석적으로 유지</a:t>
            </a:r>
          </a:p>
          <a:p>
            <a:r>
              <a:rPr lang="ko-KR" altLang="en-US" sz="1200" dirty="0"/>
              <a:t>3. 전체 흐름은 [사업 개요 - 주력 사업 - 산업 전망 - 해당 기업 전망] 순으로 구성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instruction</a:t>
            </a:r>
            <a:r>
              <a:rPr lang="ko-KR" altLang="en-US" sz="1200" dirty="0"/>
              <a:t>&gt;</a:t>
            </a:r>
          </a:p>
          <a:p>
            <a:endParaRPr lang="ko-KR" altLang="en-US" sz="1200" dirty="0"/>
          </a:p>
          <a:p>
            <a:r>
              <a:rPr lang="ko-KR" altLang="en-US" sz="1200" dirty="0"/>
              <a:t>&lt;</a:t>
            </a:r>
            <a:r>
              <a:rPr lang="ko-KR" altLang="en-US" sz="1200" dirty="0" err="1"/>
              <a:t>format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/>
              <a:t>- 슬라이드 제목: [핵심 메시지를 담은 문장]</a:t>
            </a:r>
          </a:p>
          <a:p>
            <a:r>
              <a:rPr lang="ko-KR" altLang="en-US" sz="1200" dirty="0"/>
              <a:t>- 레이아웃/시각화 : [필요시 막대 그래프, 파이 차트, 흐름도 등 구체적으로 명시]</a:t>
            </a:r>
          </a:p>
          <a:p>
            <a:r>
              <a:rPr lang="ko-KR" altLang="en-US" sz="1200" dirty="0"/>
              <a:t>- 본문 : [핵심 내용과 그 아래에 3~4개의 글머리 기호로 정리]</a:t>
            </a:r>
          </a:p>
          <a:p>
            <a:r>
              <a:rPr lang="ko-KR" altLang="en-US" sz="1200" dirty="0"/>
              <a:t>&lt;/</a:t>
            </a:r>
            <a:r>
              <a:rPr lang="ko-KR" altLang="en-US" sz="1200" dirty="0" err="1"/>
              <a:t>format</a:t>
            </a:r>
            <a:r>
              <a:rPr lang="ko-KR" altLang="en-US" sz="1200" dirty="0"/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8C14D-E79A-11BD-DCF3-C96B9D1FD759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EF9DE-2109-667E-D95E-6D10E2C52A08}"/>
              </a:ext>
            </a:extLst>
          </p:cNvPr>
          <p:cNvSpPr txBox="1"/>
          <p:nvPr/>
        </p:nvSpPr>
        <p:spPr>
          <a:xfrm>
            <a:off x="539261" y="63554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프롬프트 삽입 후 제출 버튼 클릭</a:t>
            </a:r>
          </a:p>
        </p:txBody>
      </p:sp>
    </p:spTree>
    <p:extLst>
      <p:ext uri="{BB962C8B-B14F-4D97-AF65-F5344CB8AC3E}">
        <p14:creationId xmlns:p14="http://schemas.microsoft.com/office/powerpoint/2010/main" val="393231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16AF-4715-9826-8E71-87726FB5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711CF6-FA36-9E1E-C9BB-295D2421094B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B985-E22D-4226-75BF-01688A18589F}"/>
              </a:ext>
            </a:extLst>
          </p:cNvPr>
          <p:cNvSpPr txBox="1"/>
          <p:nvPr/>
        </p:nvSpPr>
        <p:spPr>
          <a:xfrm>
            <a:off x="539261" y="635547"/>
            <a:ext cx="10808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오른쪽 화면에 슬라이드 생성됨</a:t>
            </a:r>
            <a:r>
              <a:rPr lang="en-US" altLang="ko-KR" dirty="0"/>
              <a:t>. </a:t>
            </a:r>
            <a:r>
              <a:rPr lang="ko-KR" altLang="en-US" dirty="0"/>
              <a:t>이때 슬라이드 파일을 만들거나 수정하고 싶다면 우측 상단에 </a:t>
            </a:r>
            <a:r>
              <a:rPr lang="en-US" altLang="ko-KR" dirty="0"/>
              <a:t>Slide</a:t>
            </a:r>
            <a:r>
              <a:rPr lang="ko-KR" altLang="en-US" dirty="0"/>
              <a:t>로 내보내기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17D736-89BB-7E6E-C339-A9EC41B17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62" y="1517469"/>
            <a:ext cx="9495692" cy="514087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2E64E18-BB44-4818-8532-0E0B439E6258}"/>
              </a:ext>
            </a:extLst>
          </p:cNvPr>
          <p:cNvSpPr/>
          <p:nvPr/>
        </p:nvSpPr>
        <p:spPr>
          <a:xfrm>
            <a:off x="9252838" y="1630620"/>
            <a:ext cx="1028299" cy="515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92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C75B-E795-CFE0-F007-9D8DC57B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1DC304-44A2-86B5-2803-2D1AFDE01947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9E1C6-01F2-F11A-C2E7-6EA6528BA2D8}"/>
              </a:ext>
            </a:extLst>
          </p:cNvPr>
          <p:cNvSpPr txBox="1"/>
          <p:nvPr/>
        </p:nvSpPr>
        <p:spPr>
          <a:xfrm>
            <a:off x="539261" y="63554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좌측 하단에 </a:t>
            </a:r>
            <a:r>
              <a:rPr lang="en-US" altLang="ko-KR" dirty="0"/>
              <a:t>Slide </a:t>
            </a:r>
            <a:r>
              <a:rPr lang="ko-KR" altLang="en-US" dirty="0"/>
              <a:t>열기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75C07B1-8945-3565-D6DA-CB296E0D0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95" y="2704566"/>
            <a:ext cx="7106642" cy="241016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A4B404E-3C61-F627-8CB9-E31C6FE16ED6}"/>
              </a:ext>
            </a:extLst>
          </p:cNvPr>
          <p:cNvSpPr/>
          <p:nvPr/>
        </p:nvSpPr>
        <p:spPr>
          <a:xfrm>
            <a:off x="2699638" y="4387897"/>
            <a:ext cx="1028299" cy="515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965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ACEC4-F047-F978-6A80-BAEE9939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E757E3-0179-7670-7D44-871321D1C684}"/>
              </a:ext>
            </a:extLst>
          </p:cNvPr>
          <p:cNvSpPr txBox="1"/>
          <p:nvPr/>
        </p:nvSpPr>
        <p:spPr>
          <a:xfrm>
            <a:off x="422030" y="140777"/>
            <a:ext cx="1080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PPT</a:t>
            </a:r>
            <a:r>
              <a:rPr lang="ko-KR" altLang="en-US" b="1" dirty="0"/>
              <a:t>로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AA705-5598-D7E1-BE66-82F48E8F0E06}"/>
              </a:ext>
            </a:extLst>
          </p:cNvPr>
          <p:cNvSpPr txBox="1"/>
          <p:nvPr/>
        </p:nvSpPr>
        <p:spPr>
          <a:xfrm>
            <a:off x="539261" y="635547"/>
            <a:ext cx="10808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슬라이드 생성</a:t>
            </a:r>
            <a:r>
              <a:rPr lang="en-US" altLang="ko-KR" dirty="0"/>
              <a:t>!(</a:t>
            </a:r>
            <a:r>
              <a:rPr lang="ko-KR" altLang="en-US" dirty="0"/>
              <a:t>보고서가 완전하지 않음</a:t>
            </a:r>
            <a:r>
              <a:rPr lang="en-US" altLang="ko-KR" dirty="0"/>
              <a:t>, </a:t>
            </a:r>
            <a:r>
              <a:rPr lang="ko-KR" altLang="en-US" dirty="0"/>
              <a:t>숫자가 모두 표시 </a:t>
            </a:r>
            <a:r>
              <a:rPr lang="ko-KR" altLang="en-US" dirty="0" err="1"/>
              <a:t>안된다거나</a:t>
            </a:r>
            <a:r>
              <a:rPr lang="ko-KR" altLang="en-US" dirty="0"/>
              <a:t> 그림이 </a:t>
            </a:r>
            <a:r>
              <a:rPr lang="ko-KR" altLang="en-US" dirty="0" err="1"/>
              <a:t>깨진다고나</a:t>
            </a:r>
            <a:r>
              <a:rPr lang="ko-KR" altLang="en-US" dirty="0"/>
              <a:t> 그래프에서 </a:t>
            </a:r>
            <a:r>
              <a:rPr lang="en-US" altLang="ko-KR" dirty="0"/>
              <a:t>x, y</a:t>
            </a:r>
            <a:r>
              <a:rPr lang="ko-KR" altLang="en-US" dirty="0"/>
              <a:t>축이 </a:t>
            </a:r>
            <a:r>
              <a:rPr lang="ko-KR" altLang="en-US" dirty="0" err="1"/>
              <a:t>표현안된다거나</a:t>
            </a:r>
            <a:r>
              <a:rPr lang="en-US" altLang="ko-KR" dirty="0"/>
              <a:t>!</a:t>
            </a:r>
            <a:r>
              <a:rPr lang="ko-KR" altLang="en-US" dirty="0"/>
              <a:t> 이런 부분은 </a:t>
            </a:r>
            <a:r>
              <a:rPr lang="ko-KR" altLang="en-US" dirty="0" err="1"/>
              <a:t>수정해야함</a:t>
            </a:r>
            <a:r>
              <a:rPr lang="en-US" altLang="ko-KR" dirty="0"/>
              <a:t>!)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6E4E9D-5431-761D-CBA3-A2DA2B14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92" y="1292550"/>
            <a:ext cx="9730154" cy="521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984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6F7FC-BACF-20DF-57A6-182536DC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C7BA6-89E4-2522-4057-D74AC3058F4F}"/>
              </a:ext>
            </a:extLst>
          </p:cNvPr>
          <p:cNvSpPr txBox="1"/>
          <p:nvPr/>
        </p:nvSpPr>
        <p:spPr>
          <a:xfrm>
            <a:off x="293077" y="184154"/>
            <a:ext cx="99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Gems</a:t>
            </a:r>
            <a:r>
              <a:rPr lang="ko-KR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를 이용하여 기업 분석 전문 비서 만들기</a:t>
            </a:r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!</a:t>
            </a:r>
            <a:endParaRPr lang="ko-KR" alt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70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B60A47-E8B5-E1B3-032B-944E4736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1" y="860996"/>
            <a:ext cx="9506289" cy="574378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4BF9A05-528A-5552-9985-6F6E29EE85E1}"/>
              </a:ext>
            </a:extLst>
          </p:cNvPr>
          <p:cNvSpPr/>
          <p:nvPr/>
        </p:nvSpPr>
        <p:spPr>
          <a:xfrm>
            <a:off x="858129" y="1785366"/>
            <a:ext cx="997589" cy="296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A1DF3-BD22-F63D-17D2-B2F32F7A1BC7}"/>
              </a:ext>
            </a:extLst>
          </p:cNvPr>
          <p:cNvSpPr/>
          <p:nvPr/>
        </p:nvSpPr>
        <p:spPr>
          <a:xfrm>
            <a:off x="9379679" y="5700350"/>
            <a:ext cx="1128887" cy="296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B9E87-7DDB-79AF-8CF9-14512326602E}"/>
              </a:ext>
            </a:extLst>
          </p:cNvPr>
          <p:cNvSpPr txBox="1"/>
          <p:nvPr/>
        </p:nvSpPr>
        <p:spPr>
          <a:xfrm>
            <a:off x="293077" y="184154"/>
            <a:ext cx="99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Gems -&gt; </a:t>
            </a:r>
            <a:r>
              <a:rPr lang="ko-KR" altLang="en-US" dirty="0"/>
              <a:t>우측 하단 </a:t>
            </a:r>
            <a:r>
              <a:rPr lang="en-US" altLang="ko-KR" dirty="0"/>
              <a:t>“</a:t>
            </a:r>
            <a:r>
              <a:rPr lang="ko-KR" altLang="en-US" dirty="0"/>
              <a:t>새 </a:t>
            </a:r>
            <a:r>
              <a:rPr lang="en-US" altLang="ko-KR" dirty="0"/>
              <a:t>Gems” </a:t>
            </a:r>
            <a:r>
              <a:rPr lang="ko-KR" altLang="en-US" dirty="0"/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1360420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C005AB-F1C5-1268-AB56-2B440E471EF1}"/>
              </a:ext>
            </a:extLst>
          </p:cNvPr>
          <p:cNvSpPr txBox="1"/>
          <p:nvPr/>
        </p:nvSpPr>
        <p:spPr>
          <a:xfrm>
            <a:off x="293077" y="184154"/>
            <a:ext cx="99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좌측 화면에 어떤 비서인지 내용 작성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2E615-F2A6-D053-BB32-0C7756945DE9}"/>
              </a:ext>
            </a:extLst>
          </p:cNvPr>
          <p:cNvSpPr txBox="1"/>
          <p:nvPr/>
        </p:nvSpPr>
        <p:spPr>
          <a:xfrm>
            <a:off x="293077" y="719852"/>
            <a:ext cx="99997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이름 </a:t>
            </a:r>
            <a:r>
              <a:rPr lang="en-US" altLang="ko-KR" sz="1400" dirty="0"/>
              <a:t>: </a:t>
            </a:r>
            <a:r>
              <a:rPr lang="ko-KR" altLang="en-US" sz="1400" dirty="0"/>
              <a:t>기업 핵심 분석 전문가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설명 </a:t>
            </a:r>
            <a:r>
              <a:rPr lang="en-US" altLang="ko-KR" sz="1400" dirty="0"/>
              <a:t>: </a:t>
            </a:r>
            <a:r>
              <a:rPr lang="ko-KR" altLang="en-US" sz="1400" dirty="0"/>
              <a:t>당신은 투자의 귀재 </a:t>
            </a:r>
            <a:r>
              <a:rPr lang="en-US" altLang="ko-KR" sz="1400" dirty="0"/>
              <a:t>“</a:t>
            </a:r>
            <a:r>
              <a:rPr lang="ko-KR" altLang="en-US" sz="1400" dirty="0"/>
              <a:t>워렌 버핏</a:t>
            </a:r>
            <a:r>
              <a:rPr lang="en-US" altLang="ko-KR" sz="1400" dirty="0"/>
              <a:t>＂</a:t>
            </a:r>
            <a:r>
              <a:rPr lang="ko-KR" altLang="en-US" sz="1400" dirty="0"/>
              <a:t>밑에서 </a:t>
            </a:r>
            <a:r>
              <a:rPr lang="en-US" altLang="ko-KR" sz="1400" dirty="0"/>
              <a:t>10</a:t>
            </a:r>
            <a:r>
              <a:rPr lang="ko-KR" altLang="en-US" sz="1400" dirty="0"/>
              <a:t>년 동안 수련을 받은 기업 분석 전문가입니다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요청사항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당신은 분기 보고서 또는 반기 보고서 </a:t>
            </a:r>
            <a:r>
              <a:rPr lang="en-US" altLang="ko-KR" sz="1400" dirty="0"/>
              <a:t>pdf </a:t>
            </a:r>
            <a:r>
              <a:rPr lang="ko-KR" altLang="en-US" sz="1400" dirty="0"/>
              <a:t>파일을 읽은 후 </a:t>
            </a:r>
            <a:r>
              <a:rPr lang="ko-KR" altLang="en-US" sz="1400" dirty="0" err="1"/>
              <a:t>분석해야합니다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당신이 제공할 정보는 다음과 같습니다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1) </a:t>
            </a:r>
            <a:r>
              <a:rPr lang="ko-KR" altLang="en-US" sz="1400" dirty="0"/>
              <a:t>이 회사의 핵심 사업</a:t>
            </a:r>
          </a:p>
          <a:p>
            <a:r>
              <a:rPr lang="en-US" altLang="ko-KR" sz="1400" dirty="0"/>
              <a:t>2) </a:t>
            </a:r>
            <a:r>
              <a:rPr lang="ko-KR" altLang="en-US" sz="1400" dirty="0"/>
              <a:t>수출 국가</a:t>
            </a:r>
            <a:r>
              <a:rPr lang="en-US" altLang="ko-KR" sz="1400" dirty="0"/>
              <a:t>, </a:t>
            </a:r>
            <a:r>
              <a:rPr lang="ko-KR" altLang="en-US" sz="1400" dirty="0"/>
              <a:t>수입 국가</a:t>
            </a:r>
            <a:r>
              <a:rPr lang="en-US" altLang="ko-KR" sz="1400" dirty="0"/>
              <a:t>, </a:t>
            </a:r>
            <a:r>
              <a:rPr lang="ko-KR" altLang="en-US" sz="1400" dirty="0"/>
              <a:t>수입 의존도</a:t>
            </a:r>
          </a:p>
          <a:p>
            <a:r>
              <a:rPr lang="en-US" altLang="ko-KR" sz="1400" dirty="0"/>
              <a:t>3) </a:t>
            </a:r>
            <a:r>
              <a:rPr lang="ko-KR" altLang="en-US" sz="1400" dirty="0"/>
              <a:t>이 회사의 주식 매력</a:t>
            </a:r>
          </a:p>
          <a:p>
            <a:r>
              <a:rPr lang="en-US" altLang="ko-KR" sz="1400" dirty="0"/>
              <a:t>4) </a:t>
            </a:r>
            <a:r>
              <a:rPr lang="ko-KR" altLang="en-US" sz="1400" dirty="0"/>
              <a:t>과거 </a:t>
            </a:r>
            <a:r>
              <a:rPr lang="en-US" altLang="ko-KR" sz="1400" dirty="0"/>
              <a:t>3</a:t>
            </a:r>
            <a:r>
              <a:rPr lang="ko-KR" altLang="en-US" sz="1400" dirty="0"/>
              <a:t>년 동안의 주가 변화를 분석하고 지금 매수를 했을 경우 </a:t>
            </a:r>
            <a:r>
              <a:rPr lang="en-US" altLang="ko-KR" sz="1400" dirty="0"/>
              <a:t>3</a:t>
            </a:r>
            <a:r>
              <a:rPr lang="ko-KR" altLang="en-US" sz="1400" dirty="0"/>
              <a:t>개월 후 예상 수익률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B7BBE6B-953C-30DD-F186-44010D0D6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473" y="3460492"/>
            <a:ext cx="6590097" cy="327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39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0778-A237-8514-ECFF-D34850B7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FCF2ECB-3A26-5551-DBB8-1087AE978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257" y="884372"/>
            <a:ext cx="5391902" cy="59349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956FB1-48A3-0033-44C6-82BC87219329}"/>
              </a:ext>
            </a:extLst>
          </p:cNvPr>
          <p:cNvSpPr txBox="1"/>
          <p:nvPr/>
        </p:nvSpPr>
        <p:spPr>
          <a:xfrm>
            <a:off x="293077" y="184154"/>
            <a:ext cx="99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우측 화면에 실제 프롬프트를 이용한 사전 테스트 가능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785B73-3232-AE8A-3354-D4CC5EAB2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26" y="1215259"/>
            <a:ext cx="10259857" cy="5458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DA0E6C-C50B-9920-3213-CDD9A66C1CA2}"/>
              </a:ext>
            </a:extLst>
          </p:cNvPr>
          <p:cNvSpPr txBox="1"/>
          <p:nvPr/>
        </p:nvSpPr>
        <p:spPr>
          <a:xfrm>
            <a:off x="293077" y="699706"/>
            <a:ext cx="1119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 분기 보고서 파일을 업로드 하고 제출 클릭 </a:t>
            </a:r>
            <a:r>
              <a:rPr lang="en-US" altLang="ko-KR" dirty="0"/>
              <a:t>-&gt; </a:t>
            </a:r>
            <a:r>
              <a:rPr lang="ko-KR" altLang="en-US" dirty="0"/>
              <a:t>결과 확인 후 수정 사항 작성</a:t>
            </a:r>
            <a:r>
              <a:rPr lang="en-US" altLang="ko-KR" dirty="0"/>
              <a:t> </a:t>
            </a:r>
            <a:r>
              <a:rPr lang="ko-KR" altLang="en-US" dirty="0"/>
              <a:t>후 저장 버튼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FEECF3-2E93-F3FA-0C3C-AFCCDA387760}"/>
              </a:ext>
            </a:extLst>
          </p:cNvPr>
          <p:cNvSpPr/>
          <p:nvPr/>
        </p:nvSpPr>
        <p:spPr>
          <a:xfrm>
            <a:off x="5943752" y="4758241"/>
            <a:ext cx="1962575" cy="884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DAA65D-39C3-8E12-F375-9C59DC14F7CB}"/>
              </a:ext>
            </a:extLst>
          </p:cNvPr>
          <p:cNvSpPr/>
          <p:nvPr/>
        </p:nvSpPr>
        <p:spPr>
          <a:xfrm>
            <a:off x="10021454" y="6022109"/>
            <a:ext cx="526473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4086D38-0CEE-2B5F-BD43-184629A99E92}"/>
              </a:ext>
            </a:extLst>
          </p:cNvPr>
          <p:cNvSpPr/>
          <p:nvPr/>
        </p:nvSpPr>
        <p:spPr>
          <a:xfrm>
            <a:off x="10840825" y="3944552"/>
            <a:ext cx="650449" cy="354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BC84185-4A2E-99AD-A10D-ACECE7FCF1CD}"/>
              </a:ext>
            </a:extLst>
          </p:cNvPr>
          <p:cNvCxnSpPr/>
          <p:nvPr/>
        </p:nvCxnSpPr>
        <p:spPr>
          <a:xfrm>
            <a:off x="7906327" y="5439266"/>
            <a:ext cx="1991817" cy="5828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630CF50-1C49-36F5-D2B7-D84B6F473B24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0292862" y="1356149"/>
            <a:ext cx="5847339" cy="4592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9725D9-EC49-C258-0676-237BF3DC3AAA}"/>
              </a:ext>
            </a:extLst>
          </p:cNvPr>
          <p:cNvSpPr/>
          <p:nvPr/>
        </p:nvSpPr>
        <p:spPr>
          <a:xfrm>
            <a:off x="16140201" y="1035238"/>
            <a:ext cx="930958" cy="6418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35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3D255-0669-45F6-F7D0-8AF6AF8B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F879D8-3250-E1D3-F3FE-6D99E610D577}"/>
              </a:ext>
            </a:extLst>
          </p:cNvPr>
          <p:cNvSpPr txBox="1"/>
          <p:nvPr/>
        </p:nvSpPr>
        <p:spPr>
          <a:xfrm>
            <a:off x="293077" y="184154"/>
            <a:ext cx="999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Gems</a:t>
            </a:r>
            <a:r>
              <a:rPr lang="ko-KR" altLang="en-US" dirty="0"/>
              <a:t> 추가 </a:t>
            </a:r>
            <a:r>
              <a:rPr lang="ko-KR" altLang="en-US" dirty="0" err="1"/>
              <a:t>된것</a:t>
            </a:r>
            <a:r>
              <a:rPr lang="ko-KR" altLang="en-US" dirty="0"/>
              <a:t> 확인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1E894F-7359-129E-F3FB-9A4585A25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964" y="981453"/>
            <a:ext cx="8363440" cy="569239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23EC3D-AB2C-BDDE-890A-5DC39025ED92}"/>
              </a:ext>
            </a:extLst>
          </p:cNvPr>
          <p:cNvSpPr/>
          <p:nvPr/>
        </p:nvSpPr>
        <p:spPr>
          <a:xfrm>
            <a:off x="1717964" y="2170545"/>
            <a:ext cx="2124363" cy="332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009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A7FEE6-DEC6-3C82-A49B-52B04A46D714}"/>
              </a:ext>
            </a:extLst>
          </p:cNvPr>
          <p:cNvSpPr txBox="1"/>
          <p:nvPr/>
        </p:nvSpPr>
        <p:spPr>
          <a:xfrm>
            <a:off x="550985" y="190472"/>
            <a:ext cx="633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구글 </a:t>
            </a:r>
            <a:r>
              <a:rPr lang="en-US" altLang="ko-K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</a:t>
            </a:r>
            <a:r>
              <a:rPr lang="ko-KR" alt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스튜디오를 이용한 웹 페이지 만들어보기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6BF26-6F04-D002-F998-5D63A4CE7C8D}"/>
              </a:ext>
            </a:extLst>
          </p:cNvPr>
          <p:cNvSpPr txBox="1"/>
          <p:nvPr/>
        </p:nvSpPr>
        <p:spPr>
          <a:xfrm>
            <a:off x="668215" y="744470"/>
            <a:ext cx="4290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https://aistudio.google.com</a:t>
            </a:r>
            <a:r>
              <a:rPr lang="ko-KR" altLang="en-US" dirty="0"/>
              <a:t>  접속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931D01-A845-80F9-F697-A39471BE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85" y="1298468"/>
            <a:ext cx="10292862" cy="510055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D6A2CD3-5FE2-13F6-671C-449FEC126544}"/>
              </a:ext>
            </a:extLst>
          </p:cNvPr>
          <p:cNvSpPr/>
          <p:nvPr/>
        </p:nvSpPr>
        <p:spPr>
          <a:xfrm>
            <a:off x="2602523" y="5559532"/>
            <a:ext cx="6060832" cy="6274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86F6E-5C34-BEFC-E74F-9B30BC08F3AC}"/>
              </a:ext>
            </a:extLst>
          </p:cNvPr>
          <p:cNvSpPr txBox="1"/>
          <p:nvPr/>
        </p:nvSpPr>
        <p:spPr>
          <a:xfrm>
            <a:off x="6811110" y="4908011"/>
            <a:ext cx="263769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B0F0"/>
                </a:solidFill>
              </a:rPr>
              <a:t>여기에 어떤 웹사이트를 </a:t>
            </a:r>
            <a:r>
              <a:rPr lang="ko-KR" altLang="en-US" b="1" dirty="0" err="1">
                <a:solidFill>
                  <a:srgbClr val="00B0F0"/>
                </a:solidFill>
              </a:rPr>
              <a:t>만들것인지에</a:t>
            </a:r>
            <a:r>
              <a:rPr lang="ko-KR" altLang="en-US" b="1" dirty="0">
                <a:solidFill>
                  <a:srgbClr val="00B0F0"/>
                </a:solidFill>
              </a:rPr>
              <a:t> 대한 프롬프트 작성</a:t>
            </a:r>
            <a:r>
              <a:rPr lang="en-US" altLang="ko-KR" b="1" dirty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38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547D-89D3-7ED2-1D24-781CBEFA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222A1A-1E80-FFA2-F05B-668973A1A59C}"/>
              </a:ext>
            </a:extLst>
          </p:cNvPr>
          <p:cNvSpPr txBox="1"/>
          <p:nvPr/>
        </p:nvSpPr>
        <p:spPr>
          <a:xfrm>
            <a:off x="550985" y="190472"/>
            <a:ext cx="633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구글 </a:t>
            </a:r>
            <a:r>
              <a:rPr lang="en-US" altLang="ko-KR" dirty="0"/>
              <a:t>AI </a:t>
            </a:r>
            <a:r>
              <a:rPr lang="ko-KR" altLang="en-US" dirty="0"/>
              <a:t>스튜디오를 이용한 웹 페이지 만들어보기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A2046-3A53-B5BC-695E-B8C260645C78}"/>
              </a:ext>
            </a:extLst>
          </p:cNvPr>
          <p:cNvSpPr txBox="1"/>
          <p:nvPr/>
        </p:nvSpPr>
        <p:spPr>
          <a:xfrm>
            <a:off x="668215" y="744470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먼저 </a:t>
            </a:r>
            <a:r>
              <a:rPr lang="ko-KR" altLang="en-US"/>
              <a:t>아래 지시 사항을 구조화된 프롬프트로 만들어야 함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64501-0CA6-7446-B28B-A4FC27D83F14}"/>
              </a:ext>
            </a:extLst>
          </p:cNvPr>
          <p:cNvSpPr txBox="1"/>
          <p:nvPr/>
        </p:nvSpPr>
        <p:spPr>
          <a:xfrm>
            <a:off x="550985" y="1443841"/>
            <a:ext cx="111111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Roboto" panose="020F0502020204030204" pitchFamily="2" charset="0"/>
              </a:rPr>
              <a:t>웹 사이트 이름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: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짱구의 홈페이지 </a:t>
            </a:r>
            <a:endParaRPr lang="en-US" altLang="ko-KR" b="0" i="0" dirty="0">
              <a:effectLst/>
              <a:latin typeface="Roboto" panose="020F0502020204030204" pitchFamily="2" charset="0"/>
            </a:endParaRPr>
          </a:p>
          <a:p>
            <a:r>
              <a:rPr lang="ko-KR" altLang="en-US" b="0" i="0" dirty="0">
                <a:effectLst/>
                <a:latin typeface="Roboto" panose="020F0502020204030204" pitchFamily="2" charset="0"/>
              </a:rPr>
              <a:t>웹 사이트 유형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: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짱구 소개</a:t>
            </a:r>
            <a:endParaRPr lang="en-US" altLang="ko-KR" dirty="0">
              <a:latin typeface="Roboto" panose="020F0502020204030204" pitchFamily="2" charset="0"/>
            </a:endParaRPr>
          </a:p>
          <a:p>
            <a:endParaRPr lang="en-US" altLang="ko-KR" b="0" i="0" dirty="0">
              <a:effectLst/>
              <a:latin typeface="Roboto" panose="020F0502020204030204" pitchFamily="2" charset="0"/>
            </a:endParaRPr>
          </a:p>
          <a:p>
            <a:r>
              <a:rPr lang="ko-KR" altLang="en-US" b="0" i="0" dirty="0">
                <a:effectLst/>
                <a:latin typeface="Roboto" panose="020F0502020204030204" pitchFamily="2" charset="0"/>
              </a:rPr>
              <a:t>생성되는 프롬프트는 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Google AI Studio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가 다음 조건을 충족하는 웹사이트를 만들도록 지시해야 합니다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.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현대적이고 전문적인 디자인을 갖추고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관리자가 쉽게 사용할 수 있는 유저 친화적인 관리자 대시보드가 포함된 완전히 편집 가능한 웹사이트여야 합니다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.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또한 최종 프롬프트에는 반드시 다음 기능과 요구 사항이 포함되어야 합니다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. </a:t>
            </a:r>
          </a:p>
          <a:p>
            <a:endParaRPr lang="en-US" altLang="ko-KR" dirty="0">
              <a:latin typeface="Roboto" panose="020F0502020204030204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b="0" i="0" dirty="0">
                <a:effectLst/>
                <a:latin typeface="Roboto" panose="020F0502020204030204" pitchFamily="2" charset="0"/>
              </a:rPr>
              <a:t>짱구가 어떤 사람인지 한눈에 보여주는 웹사이트</a:t>
            </a:r>
            <a:endParaRPr lang="en-US" altLang="ko-KR" b="0" i="0" dirty="0">
              <a:effectLst/>
              <a:latin typeface="Roboto" panose="020F0502020204030204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b="0" i="0" dirty="0">
                <a:effectLst/>
                <a:latin typeface="Roboto" panose="020F0502020204030204" pitchFamily="2" charset="0"/>
              </a:rPr>
              <a:t>텍스트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이미지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테마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색상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폰트 등 콘텐츠 및 디자인 전반에 대한 자유로운 커스터마이징 기능</a:t>
            </a:r>
            <a:endParaRPr lang="en-US" altLang="ko-KR" b="0" i="0" dirty="0">
              <a:effectLst/>
              <a:latin typeface="Roboto" panose="020F0502020204030204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Roboto" panose="020F0502020204030204" pitchFamily="2" charset="0"/>
              </a:rPr>
              <a:t>경력 사항을 넣어주세요</a:t>
            </a:r>
            <a:r>
              <a:rPr lang="en-US" altLang="ko-KR" dirty="0">
                <a:latin typeface="Roboto" panose="020F0502020204030204" pitchFamily="2" charset="0"/>
              </a:rPr>
              <a:t>.</a:t>
            </a:r>
            <a:r>
              <a:rPr lang="ko-KR" altLang="en-US" dirty="0">
                <a:latin typeface="Roboto" panose="020F0502020204030204" pitchFamily="2" charset="0"/>
              </a:rPr>
              <a:t> </a:t>
            </a:r>
            <a:r>
              <a:rPr lang="en-US" altLang="ko-KR" dirty="0">
                <a:latin typeface="Roboto" panose="020F0502020204030204" pitchFamily="2" charset="0"/>
              </a:rPr>
              <a:t>2021~2022 </a:t>
            </a:r>
            <a:r>
              <a:rPr lang="ko-KR" altLang="en-US" dirty="0">
                <a:latin typeface="Roboto" panose="020F0502020204030204" pitchFamily="2" charset="0"/>
              </a:rPr>
              <a:t>사과 회사 근무</a:t>
            </a:r>
            <a:r>
              <a:rPr lang="en-US" altLang="ko-KR" dirty="0">
                <a:latin typeface="Roboto" panose="020F0502020204030204" pitchFamily="2" charset="0"/>
              </a:rPr>
              <a:t>, 2022~2030 </a:t>
            </a:r>
            <a:r>
              <a:rPr lang="ko-KR" altLang="en-US" dirty="0">
                <a:latin typeface="Roboto" panose="020F0502020204030204" pitchFamily="2" charset="0"/>
              </a:rPr>
              <a:t>짱구 주식회사</a:t>
            </a:r>
            <a:r>
              <a:rPr lang="en-US" altLang="ko-KR" dirty="0">
                <a:latin typeface="Roboto" panose="020F0502020204030204" pitchFamily="2" charset="0"/>
              </a:rPr>
              <a:t> </a:t>
            </a:r>
            <a:r>
              <a:rPr lang="ko-KR" altLang="en-US" dirty="0">
                <a:latin typeface="Roboto" panose="020F0502020204030204" pitchFamily="2" charset="0"/>
              </a:rPr>
              <a:t>근무</a:t>
            </a:r>
            <a:endParaRPr lang="en-US" altLang="ko-KR" dirty="0">
              <a:latin typeface="Roboto" panose="020F0502020204030204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Roboto" panose="020F0502020204030204" pitchFamily="2" charset="0"/>
              </a:rPr>
              <a:t>좌우명 </a:t>
            </a:r>
            <a:r>
              <a:rPr lang="en-US" altLang="ko-KR" dirty="0">
                <a:latin typeface="Roboto" panose="020F0502020204030204" pitchFamily="2" charset="0"/>
              </a:rPr>
              <a:t>“</a:t>
            </a:r>
            <a:r>
              <a:rPr lang="ko-KR" altLang="en-US" dirty="0" err="1">
                <a:latin typeface="Roboto" panose="020F0502020204030204" pitchFamily="2" charset="0"/>
              </a:rPr>
              <a:t>잘먹고</a:t>
            </a:r>
            <a:r>
              <a:rPr lang="ko-KR" altLang="en-US" dirty="0">
                <a:latin typeface="Roboto" panose="020F0502020204030204" pitchFamily="2" charset="0"/>
              </a:rPr>
              <a:t> 잘살자</a:t>
            </a:r>
            <a:r>
              <a:rPr lang="en-US" altLang="ko-KR" dirty="0">
                <a:latin typeface="Roboto" panose="020F0502020204030204" pitchFamily="2" charset="0"/>
              </a:rPr>
              <a:t>＂</a:t>
            </a:r>
            <a:r>
              <a:rPr lang="ko-KR" altLang="en-US" dirty="0">
                <a:latin typeface="Roboto" panose="020F0502020204030204" pitchFamily="2" charset="0"/>
              </a:rPr>
              <a:t>에 걸맞는 이미지를 포함</a:t>
            </a:r>
            <a:endParaRPr lang="en-US" altLang="ko-KR" dirty="0">
              <a:latin typeface="Roboto" panose="020F0502020204030204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b="0" i="0" dirty="0">
                <a:effectLst/>
                <a:latin typeface="Roboto" panose="020F0502020204030204" pitchFamily="2" charset="0"/>
              </a:rPr>
              <a:t>한글 웹사이트 </a:t>
            </a:r>
            <a:endParaRPr lang="en-US" altLang="ko-KR" b="0" i="0" dirty="0">
              <a:effectLst/>
              <a:latin typeface="Roboto" panose="020F0502020204030204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b="0" i="0" dirty="0">
                <a:effectLst/>
                <a:latin typeface="Roboto" panose="020F0502020204030204" pitchFamily="2" charset="0"/>
              </a:rPr>
              <a:t>고급스럽고 디자인 감각이 돋보이도록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배경은 검은색</a:t>
            </a:r>
            <a:r>
              <a:rPr lang="en-US" altLang="ko-KR" b="0" i="0" dirty="0">
                <a:effectLst/>
                <a:latin typeface="Roboto" panose="020F0502020204030204" pitchFamily="2" charset="0"/>
              </a:rPr>
              <a:t>, </a:t>
            </a:r>
            <a:r>
              <a:rPr lang="ko-KR" altLang="en-US" b="0" i="0" dirty="0">
                <a:effectLst/>
                <a:latin typeface="Roboto" panose="020F0502020204030204" pitchFamily="2" charset="0"/>
              </a:rPr>
              <a:t>포인트컬러는 보라색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766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D2C3-0880-C9CA-F8DA-DD13BF62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8207D-46E4-8296-92ED-1295F3B94A1D}"/>
              </a:ext>
            </a:extLst>
          </p:cNvPr>
          <p:cNvSpPr txBox="1"/>
          <p:nvPr/>
        </p:nvSpPr>
        <p:spPr>
          <a:xfrm>
            <a:off x="550985" y="190472"/>
            <a:ext cx="633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구글 </a:t>
            </a:r>
            <a:r>
              <a:rPr lang="en-US" altLang="ko-KR" dirty="0"/>
              <a:t>AI </a:t>
            </a:r>
            <a:r>
              <a:rPr lang="ko-KR" altLang="en-US" dirty="0"/>
              <a:t>스튜디오를 이용한 웹 페이지 만들어보기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EE741B-B2FE-26B5-10DB-F376E540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5" y="1142549"/>
            <a:ext cx="7719296" cy="5524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1BBFA8-CDA6-CFA8-6EEC-A7A3FA60762A}"/>
              </a:ext>
            </a:extLst>
          </p:cNvPr>
          <p:cNvSpPr txBox="1"/>
          <p:nvPr/>
        </p:nvSpPr>
        <p:spPr>
          <a:xfrm>
            <a:off x="668215" y="744470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프롬프트 </a:t>
            </a:r>
            <a:r>
              <a:rPr lang="ko-KR" altLang="en-US" dirty="0" err="1"/>
              <a:t>작성후</a:t>
            </a:r>
            <a:r>
              <a:rPr lang="ko-KR" altLang="en-US" dirty="0"/>
              <a:t> </a:t>
            </a:r>
            <a:r>
              <a:rPr lang="en-US" altLang="ko-KR" dirty="0"/>
              <a:t>Run Ctrl </a:t>
            </a:r>
            <a:r>
              <a:rPr lang="ko-KR" altLang="en-US" dirty="0"/>
              <a:t>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04ED9B-3C78-90FA-60F7-482FF6EEF4CB}"/>
              </a:ext>
            </a:extLst>
          </p:cNvPr>
          <p:cNvSpPr/>
          <p:nvPr/>
        </p:nvSpPr>
        <p:spPr>
          <a:xfrm>
            <a:off x="6611813" y="6330462"/>
            <a:ext cx="717452" cy="2780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941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29A072C-E6A9-F23F-97AD-35C5B9A4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1114102"/>
            <a:ext cx="11117226" cy="4629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E93B4D-C3A2-27AC-2E62-09B342C7A043}"/>
              </a:ext>
            </a:extLst>
          </p:cNvPr>
          <p:cNvSpPr txBox="1"/>
          <p:nvPr/>
        </p:nvSpPr>
        <p:spPr>
          <a:xfrm>
            <a:off x="499403" y="336507"/>
            <a:ext cx="8278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구조화된 프롬프트 작성 완료</a:t>
            </a:r>
            <a:r>
              <a:rPr lang="en-US" altLang="ko-KR" dirty="0"/>
              <a:t>, </a:t>
            </a:r>
            <a:r>
              <a:rPr lang="ko-KR" altLang="en-US" dirty="0"/>
              <a:t>프롬프트에 마우스를 가져가서 우측 상단에 </a:t>
            </a:r>
            <a:r>
              <a:rPr lang="en-US" altLang="ko-KR" dirty="0"/>
              <a:t>Copy as text </a:t>
            </a:r>
            <a:r>
              <a:rPr lang="ko-KR" altLang="en-US" dirty="0"/>
              <a:t>클릭해서 복사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5D69DA-C422-1060-B4BB-7AD25C97961F}"/>
              </a:ext>
            </a:extLst>
          </p:cNvPr>
          <p:cNvSpPr/>
          <p:nvPr/>
        </p:nvSpPr>
        <p:spPr>
          <a:xfrm>
            <a:off x="9917721" y="1730327"/>
            <a:ext cx="1322365" cy="323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5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38DA5-EE32-D17E-1EB0-76360FFF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0664B7-C28B-BBCA-B5BC-4F95ED29DC35}"/>
              </a:ext>
            </a:extLst>
          </p:cNvPr>
          <p:cNvSpPr txBox="1"/>
          <p:nvPr/>
        </p:nvSpPr>
        <p:spPr>
          <a:xfrm>
            <a:off x="499403" y="336507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좌측에 </a:t>
            </a:r>
            <a:r>
              <a:rPr lang="en-US" altLang="ko-KR" dirty="0"/>
              <a:t>Build </a:t>
            </a:r>
            <a:r>
              <a:rPr lang="ko-KR" altLang="en-US" dirty="0"/>
              <a:t>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3214AE-E3AF-3928-6BC1-B5DC8D19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811673"/>
            <a:ext cx="11366695" cy="523465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007D7FB-C298-C234-D0BE-104113279850}"/>
              </a:ext>
            </a:extLst>
          </p:cNvPr>
          <p:cNvSpPr/>
          <p:nvPr/>
        </p:nvSpPr>
        <p:spPr>
          <a:xfrm>
            <a:off x="281354" y="1842868"/>
            <a:ext cx="1547446" cy="351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51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5F3848F-9FB4-2C27-C9BA-6DE974BC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978"/>
            <a:ext cx="12192000" cy="5429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3FC455-4739-4389-0554-5D6A86AD1F45}"/>
              </a:ext>
            </a:extLst>
          </p:cNvPr>
          <p:cNvSpPr txBox="1"/>
          <p:nvPr/>
        </p:nvSpPr>
        <p:spPr>
          <a:xfrm>
            <a:off x="499403" y="336507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프롬프트 복사</a:t>
            </a:r>
          </a:p>
        </p:txBody>
      </p:sp>
    </p:spTree>
    <p:extLst>
      <p:ext uri="{BB962C8B-B14F-4D97-AF65-F5344CB8AC3E}">
        <p14:creationId xmlns:p14="http://schemas.microsoft.com/office/powerpoint/2010/main" val="1125597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A9791F-C92F-5EF2-95BB-E74D4F8CE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73" y="844471"/>
            <a:ext cx="9031917" cy="5599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075219-853E-2B35-C9C6-18B18E189B98}"/>
              </a:ext>
            </a:extLst>
          </p:cNvPr>
          <p:cNvSpPr txBox="1"/>
          <p:nvPr/>
        </p:nvSpPr>
        <p:spPr>
          <a:xfrm>
            <a:off x="499403" y="336507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프롬프트 복사 후 </a:t>
            </a:r>
            <a:r>
              <a:rPr lang="en-US" altLang="ko-KR" dirty="0"/>
              <a:t>Build Ctrl </a:t>
            </a:r>
            <a:r>
              <a:rPr lang="ko-KR" altLang="en-US" dirty="0"/>
              <a:t>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69A286-5876-CAB0-E621-C72ED5037441}"/>
              </a:ext>
            </a:extLst>
          </p:cNvPr>
          <p:cNvSpPr/>
          <p:nvPr/>
        </p:nvSpPr>
        <p:spPr>
          <a:xfrm>
            <a:off x="9172134" y="5106574"/>
            <a:ext cx="1322365" cy="323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B95B3-06B9-3741-EB0D-A3BBB2943DF8}"/>
              </a:ext>
            </a:extLst>
          </p:cNvPr>
          <p:cNvSpPr txBox="1"/>
          <p:nvPr/>
        </p:nvSpPr>
        <p:spPr>
          <a:xfrm>
            <a:off x="499403" y="873016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이때 프롬프트 맨 아래에 팁 부분은 삭제하는 것을 권장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7A4E63-04B3-9EF2-239B-44A6944086C8}"/>
              </a:ext>
            </a:extLst>
          </p:cNvPr>
          <p:cNvSpPr/>
          <p:nvPr/>
        </p:nvSpPr>
        <p:spPr>
          <a:xfrm>
            <a:off x="2799471" y="3429000"/>
            <a:ext cx="7695028" cy="167757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2F469AF-CCCD-0336-890D-5BA3B98E7437}"/>
              </a:ext>
            </a:extLst>
          </p:cNvPr>
          <p:cNvCxnSpPr/>
          <p:nvPr/>
        </p:nvCxnSpPr>
        <p:spPr>
          <a:xfrm>
            <a:off x="1814732" y="1406769"/>
            <a:ext cx="984739" cy="2022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868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96A92-FFB4-7440-67FE-98EF2B68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E9CA7D8-0D67-6AF9-17A0-1B99523B5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73" y="844471"/>
            <a:ext cx="9031917" cy="5599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D621ED-6D1F-5E07-F524-ADC093B3602E}"/>
              </a:ext>
            </a:extLst>
          </p:cNvPr>
          <p:cNvSpPr txBox="1"/>
          <p:nvPr/>
        </p:nvSpPr>
        <p:spPr>
          <a:xfrm>
            <a:off x="499403" y="336507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프롬프트 복사 후 </a:t>
            </a:r>
            <a:r>
              <a:rPr lang="en-US" altLang="ko-KR" dirty="0"/>
              <a:t>Build Ctrl </a:t>
            </a:r>
            <a:r>
              <a:rPr lang="ko-KR" altLang="en-US" dirty="0"/>
              <a:t>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C0BF99-DB4A-629A-6A0D-F55609EF97C0}"/>
              </a:ext>
            </a:extLst>
          </p:cNvPr>
          <p:cNvSpPr/>
          <p:nvPr/>
        </p:nvSpPr>
        <p:spPr>
          <a:xfrm>
            <a:off x="9172134" y="5106574"/>
            <a:ext cx="1322365" cy="323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52710B-39D8-817A-950E-3C7A24F4FCFD}"/>
              </a:ext>
            </a:extLst>
          </p:cNvPr>
          <p:cNvSpPr txBox="1"/>
          <p:nvPr/>
        </p:nvSpPr>
        <p:spPr>
          <a:xfrm>
            <a:off x="499403" y="873016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이때 프롬프트 맨 아래에 팁 부분은 삭제하는 것을 권장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2EC471-5197-9A3D-1E57-BBB9636B1C19}"/>
              </a:ext>
            </a:extLst>
          </p:cNvPr>
          <p:cNvSpPr/>
          <p:nvPr/>
        </p:nvSpPr>
        <p:spPr>
          <a:xfrm>
            <a:off x="2799471" y="3429000"/>
            <a:ext cx="7695028" cy="167757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F130C18-DCD8-E584-0BCC-F1B048BC884A}"/>
              </a:ext>
            </a:extLst>
          </p:cNvPr>
          <p:cNvCxnSpPr/>
          <p:nvPr/>
        </p:nvCxnSpPr>
        <p:spPr>
          <a:xfrm>
            <a:off x="1814732" y="1406769"/>
            <a:ext cx="984739" cy="2022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816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704F-D724-0702-FA13-BC496703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BC00F5-DAFE-CF40-94B2-378F5912CF9D}"/>
              </a:ext>
            </a:extLst>
          </p:cNvPr>
          <p:cNvSpPr txBox="1"/>
          <p:nvPr/>
        </p:nvSpPr>
        <p:spPr>
          <a:xfrm>
            <a:off x="499403" y="336507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몇 분 후 홈페이지 완성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84F165-6199-E9E8-EB52-B8706F2B2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4936"/>
            <a:ext cx="12192000" cy="553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97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E5B4-6269-FC05-93DE-D53FB142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6ECCBD58-FA3A-6FD3-C2AD-E5EA8FE5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382" y="180043"/>
            <a:ext cx="5039428" cy="6677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C289EB-2266-7B91-9CE9-112162DDF12E}"/>
              </a:ext>
            </a:extLst>
          </p:cNvPr>
          <p:cNvSpPr txBox="1"/>
          <p:nvPr/>
        </p:nvSpPr>
        <p:spPr>
          <a:xfrm>
            <a:off x="161779" y="1011756"/>
            <a:ext cx="827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좌측 하단 프롬프트 창에 추가 요구 사항 작성 가능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65955F-48AE-C6DD-4B08-9FC63E49EA78}"/>
              </a:ext>
            </a:extLst>
          </p:cNvPr>
          <p:cNvSpPr/>
          <p:nvPr/>
        </p:nvSpPr>
        <p:spPr>
          <a:xfrm>
            <a:off x="6713382" y="5946436"/>
            <a:ext cx="3587262" cy="731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353DB2D-9E93-86F1-FDF1-510C410CCF61}"/>
              </a:ext>
            </a:extLst>
          </p:cNvPr>
          <p:cNvCxnSpPr>
            <a:cxnSpLocks/>
          </p:cNvCxnSpPr>
          <p:nvPr/>
        </p:nvCxnSpPr>
        <p:spPr>
          <a:xfrm>
            <a:off x="4881489" y="1505243"/>
            <a:ext cx="1831893" cy="4441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87AAFD-D027-08C3-C3E0-7AEBFFF3FD91}"/>
              </a:ext>
            </a:extLst>
          </p:cNvPr>
          <p:cNvSpPr txBox="1"/>
          <p:nvPr/>
        </p:nvSpPr>
        <p:spPr>
          <a:xfrm>
            <a:off x="1673954" y="5168091"/>
            <a:ext cx="4663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추가 요구 사항 </a:t>
            </a:r>
            <a:r>
              <a:rPr lang="ko-KR" altLang="en-US" dirty="0" err="1"/>
              <a:t>작성후</a:t>
            </a:r>
            <a:r>
              <a:rPr lang="ko-KR" altLang="en-US" dirty="0"/>
              <a:t> 위쪽 화살표 클릭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4E4E11-B4D8-15A2-DCA5-8FBDCC2433CF}"/>
              </a:ext>
            </a:extLst>
          </p:cNvPr>
          <p:cNvSpPr/>
          <p:nvPr/>
        </p:nvSpPr>
        <p:spPr>
          <a:xfrm>
            <a:off x="11226016" y="6372665"/>
            <a:ext cx="408712" cy="457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98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1373</Words>
  <Application>Microsoft Office PowerPoint</Application>
  <PresentationFormat>와이드스크린</PresentationFormat>
  <Paragraphs>171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Roboto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2026-03-19T09:09:40Z</dcterms:created>
  <dcterms:modified xsi:type="dcterms:W3CDTF">2026-03-20T08:20:48Z</dcterms:modified>
</cp:coreProperties>
</file>